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A2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81418"/>
          </a:solidFill>
          <a:ln/>
        </p:spPr>
      </p:sp>
      <p:sp>
        <p:nvSpPr>
          <p:cNvPr id="4" name="Shape 2"/>
          <p:cNvSpPr/>
          <p:nvPr/>
        </p:nvSpPr>
        <p:spPr>
          <a:xfrm>
            <a:off x="4526280" y="274320"/>
            <a:ext cx="0" cy="4572000"/>
          </a:xfrm>
          <a:prstGeom prst="line">
            <a:avLst/>
          </a:prstGeom>
          <a:noFill/>
          <a:ln w="19050">
            <a:solidFill>
              <a:srgbClr val="FFD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냥의 세계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75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은청 위상  ·  채도 억제된 서늘한 고독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뭉의 세계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475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황금 위상  ·  채도 억제된 무거운 고독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64008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꼬리가 닿는 거리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공명 액션 로그라이트  |  도트 스프라이트 × 2.5D  |  1인 개발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공명 100% → Eclipse — 두 세계가 겹치고 색이 돌아온다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저주받은 두 세계 — 마법사를 향한 끝없는 여행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공간, 다른 위상. 서로를 볼 수 없다.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164592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1645920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78992"/>
            <a:ext cx="8138160" cy="14630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냥과 뭉은 원래 같은 세계에 살던 연인이었다. 강력한 마법사가 두 존재를 서로 다른 위상에 가두는 저주를 걸었다.
</a:t>
            </a:r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공간에 있지만 서로를 볼 수 없다. 손이 닿을 것 같지만 닿지 않는다.
</a:t>
            </a:r>
            <a:pPr indent="0" marL="0">
              <a:buNone/>
            </a:pPr>
            <a:r>
              <a:rPr lang="en-US" sz="13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한 순간 — 공명이 일어날 때만 — 두 세계가 겹친다.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69080" cy="19202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834640"/>
            <a:ext cx="54864" cy="192024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냥의 세계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은청 위상  ·  6800K 달빛  ·  채도 20~30%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달빛 안개가 낀 폐허 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적을 처치하며 전진한다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멈추면 자동사격 — 이동이 회피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시 황금 흔적이 남는다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34640"/>
            <a:ext cx="4069080" cy="19202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834640"/>
            <a:ext cx="54864" cy="192024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뭉의 세계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황금 위상  ·  4200K 안개  ·  채도 20~30%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340156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짙은 안개, 무너진 성 실루엣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적을 돌파하며 전진한다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방패와 근접 — 탱키한 전투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시 은청 흔적이 남는다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메커니즘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벨트스크롤 × 교대 플레이 × 공명 Eclipse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16916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69164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멈추면 자동사격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중 공격 없음. 멈추는 순간 가장 가까운 적 자동 조준.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= 회피 = 흔적 생성.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697480" cy="16916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54864" cy="169164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교대 플레이 — 전략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3898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Tab으로 냥↔뭉 교대. 같은 위치, 다른 위상.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교대마다 공명 게이지 +15pt.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08192" y="1005840"/>
            <a:ext cx="2697480" cy="16916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08192" y="1005840"/>
            <a:ext cx="54864" cy="1691640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벨트스크롤 전진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5352" y="13898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 방식 X. 앞으로 끊임없이 전진.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마법사는 항상 다음 지역에 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97480" cy="16916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34640"/>
            <a:ext cx="54864" cy="1691640"/>
          </a:xfrm>
          <a:prstGeom prst="rect">
            <a:avLst/>
          </a:prstGeom>
          <a:solidFill>
            <a:srgbClr val="FF684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Eclipse — 공명 폭발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186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게이지 100% 달성 시 발동.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위상이 겹치며 채도 100% 폭발. ×2.5 대미지.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2834640"/>
            <a:ext cx="2697480" cy="16916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834640"/>
            <a:ext cx="54864" cy="1691640"/>
          </a:xfrm>
          <a:prstGeom prst="rect">
            <a:avLst/>
          </a:prstGeom>
          <a:solidFill>
            <a:srgbClr val="D8A0C0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흉터(Scar) — 사망=자산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32186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시 Type A/B/C/D 흉터 선택.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페널티가 아닌 다음 런의 성장 자원.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08192" y="2834640"/>
            <a:ext cx="2697480" cy="169164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08192" y="2834640"/>
            <a:ext cx="54864" cy="169164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싱크로율 시스템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321868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횟수·균형에 따라 Eclipse 배율 결정.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 ~ ×2.5. 두 캐릭터를 고르게 쓸수록 강하다.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Trigger — 두 위상이 겹치는 순간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평상시 채도 20~30% → 공명 시에만 세상이 살아난다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FFD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109728"/>
          </a:xfrm>
          <a:prstGeom prst="rect">
            <a:avLst/>
          </a:prstGeom>
          <a:solidFill>
            <a:srgbClr val="1A223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389888"/>
            <a:ext cx="201168" cy="201168"/>
          </a:xfrm>
          <a:prstGeom prst="oval">
            <a:avLst/>
          </a:prstGeom>
          <a:solidFill>
            <a:srgbClr val="283848"/>
          </a:solidFill>
          <a:ln w="12700">
            <a:solidFill>
              <a:srgbClr val="2838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143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0~110s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1920240"/>
            <a:ext cx="2103120" cy="13716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920240"/>
            <a:ext cx="54864" cy="1371600"/>
          </a:xfrm>
          <a:prstGeom prst="rect">
            <a:avLst/>
          </a:prstGeom>
          <a:solidFill>
            <a:srgbClr val="283848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전진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 처치, 흔적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채도 20~30% 억제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389888"/>
            <a:ext cx="201168" cy="201168"/>
          </a:xfrm>
          <a:prstGeom prst="oval">
            <a:avLst/>
          </a:prstGeom>
          <a:solidFill>
            <a:srgbClr val="D8A0C0"/>
          </a:solidFill>
          <a:ln w="12700">
            <a:solidFill>
              <a:srgbClr val="D8A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공명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110~150s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2286000"/>
            <a:ext cx="2103120" cy="13716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77440" y="2286000"/>
            <a:ext cx="54864" cy="1371600"/>
          </a:xfrm>
          <a:prstGeom prst="rect">
            <a:avLst/>
          </a:prstGeom>
          <a:solidFill>
            <a:srgbClr val="D8A0C0"/>
          </a:solidFill>
          <a:ln/>
        </p:spPr>
      </p:sp>
      <p:sp>
        <p:nvSpPr>
          <p:cNvPr id="17" name="Text 15"/>
          <p:cNvSpPr/>
          <p:nvPr/>
        </p:nvSpPr>
        <p:spPr>
          <a:xfrm>
            <a:off x="2487168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반투명 파트너 등장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채도 55%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벚꽃 파티클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0" y="1389888"/>
            <a:ext cx="201168" cy="201168"/>
          </a:xfrm>
          <a:prstGeom prst="oval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긴장 재상승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1143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150~240s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2103120" cy="13716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920240"/>
            <a:ext cx="54864" cy="1371600"/>
          </a:xfrm>
          <a:prstGeom prst="rect">
            <a:avLst/>
          </a:prstGeom>
          <a:solidFill>
            <a:srgbClr val="1C3040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혼자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흉터 선택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1389888"/>
            <a:ext cx="201168" cy="201168"/>
          </a:xfrm>
          <a:prstGeom prst="oval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공명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240~340s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2286000"/>
            <a:ext cx="2103120" cy="13716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2286000"/>
            <a:ext cx="54864" cy="1371600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29" name="Text 27"/>
          <p:cNvSpPr/>
          <p:nvPr/>
        </p:nvSpPr>
        <p:spPr>
          <a:xfrm>
            <a:off x="6876288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완전한 재회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채도 100% 폭발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×2.5 대미지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96012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840480"/>
            <a:ext cx="54864" cy="960120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9136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발동 조건: 교대 플레이 기반 공명 게이지 100% 충전  ·  싱크로율에 따라 ×1.0 ~ ×2.5 대미지  ·  두 세계 동시 채도 100% 폭발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고독:공명 = 67%:33% — 희소성이 공명을 기적으로 만든다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도트 스프라이트 × 2.5D 레이어드 배경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개발 가능한 아트 스타일 — 도트 고유의 리듬감 + 심도감 있는 배경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475488"/>
          </a:xfrm>
          <a:prstGeom prst="rect">
            <a:avLst/>
          </a:prstGeom>
          <a:solidFill>
            <a:srgbClr val="0A0E14"/>
          </a:solidFill>
          <a:ln w="3810">
            <a:solidFill>
              <a:srgbClr val="283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Gradient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냥: #C8D4DC 달무리 안개  /  뭉: #2A2830 짙은 먹하늘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2668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×0.10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50392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545336"/>
            <a:ext cx="8412480" cy="475488"/>
          </a:xfrm>
          <a:prstGeom prst="rect">
            <a:avLst/>
          </a:prstGeom>
          <a:solidFill>
            <a:srgbClr val="0A0E14"/>
          </a:solidFill>
          <a:ln w="3810">
            <a:solidFill>
              <a:srgbClr val="1C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36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636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원경 실루엣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636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냥: 폐허 건물  /  뭉: 무너진 성. parallax ×0.25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26680" y="1636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×0.25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03920" y="1636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084832"/>
            <a:ext cx="8412480" cy="475488"/>
          </a:xfrm>
          <a:prstGeom prst="rect">
            <a:avLst/>
          </a:prstGeom>
          <a:solidFill>
            <a:srgbClr val="0A0E14"/>
          </a:solidFill>
          <a:ln w="3810">
            <a:solidFill>
              <a:srgbClr val="1A22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76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중경 배경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이끼 낀 돌벽·수로 아치교 / 안개 낀 성벽. ×0.50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26680" y="2176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×0.50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03920" y="2176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624328"/>
            <a:ext cx="8412480" cy="475488"/>
          </a:xfrm>
          <a:prstGeom prst="rect">
            <a:avLst/>
          </a:prstGeom>
          <a:solidFill>
            <a:srgbClr val="111820"/>
          </a:solidFill>
          <a:ln w="12700">
            <a:solidFill>
              <a:srgbClr val="A0C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도트 스프라이트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2715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32×32px 캐릭터·적. ×4 Nearest Neighbor 스케일링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26680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163824"/>
            <a:ext cx="8412480" cy="475488"/>
          </a:xfrm>
          <a:prstGeom prst="rect">
            <a:avLst/>
          </a:prstGeom>
          <a:solidFill>
            <a:srgbClr val="0A0E14"/>
          </a:solidFill>
          <a:ln w="3810">
            <a:solidFill>
              <a:srgbClr val="1A22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552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3444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근경 오브젝트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6616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서리 낀 나뭇가지·낙엽·안개 파편. parallax ×1.40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26680" y="32552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×1.40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03920" y="3255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703320"/>
            <a:ext cx="8412480" cy="475488"/>
          </a:xfrm>
          <a:prstGeom prst="rect">
            <a:avLst/>
          </a:prstGeom>
          <a:solidFill>
            <a:srgbClr val="111820"/>
          </a:solidFill>
          <a:ln w="12700">
            <a:solidFill>
              <a:srgbClr val="E8C8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344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바닥 / 흔적 파티클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 #A0C8E0 은청  /  뭉 #E8C890 황금. Eclipse=혼합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266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03920" y="3794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242816"/>
            <a:ext cx="8412480" cy="475488"/>
          </a:xfrm>
          <a:prstGeom prst="rect">
            <a:avLst/>
          </a:prstGeom>
          <a:solidFill>
            <a:srgbClr val="0A0E14"/>
          </a:solidFill>
          <a:ln w="3810">
            <a:solidFill>
              <a:srgbClr val="D8A0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334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34440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VFX 오버레이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66160" y="4334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벚꽃 파티클. Eclipse 시 채도 100% 전환. 픽셀 디졸브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26680" y="4334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03920" y="4334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스프라이트: 32×32px  ·  ×4 Nearest Neighbor  ·  16색 팔레트 제한  ·  8~12fps  ·  Aseprite 제작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포지셔닝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솔로 친화 × 감성 서사 — 교대 공명이라는 독창적 메카닉으로 공백 공략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514600" cy="1920240"/>
          </a:xfrm>
          <a:prstGeom prst="rect">
            <a:avLst/>
          </a:prstGeom>
          <a:solidFill>
            <a:srgbClr val="111C28"/>
          </a:solidFill>
          <a:ln/>
        </p:spPr>
      </p:sp>
      <p:sp>
        <p:nvSpPr>
          <p:cNvPr id="6" name="Shape 4"/>
          <p:cNvSpPr/>
          <p:nvPr/>
        </p:nvSpPr>
        <p:spPr>
          <a:xfrm>
            <a:off x="2971800" y="1005840"/>
            <a:ext cx="2514600" cy="1920240"/>
          </a:xfrm>
          <a:prstGeom prst="rect">
            <a:avLst/>
          </a:prstGeom>
          <a:solidFill>
            <a:srgbClr val="141C2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926080"/>
            <a:ext cx="2514600" cy="1920240"/>
          </a:xfrm>
          <a:prstGeom prst="rect">
            <a:avLst/>
          </a:prstGeom>
          <a:solidFill>
            <a:srgbClr val="10181C"/>
          </a:solidFill>
          <a:ln/>
        </p:spPr>
      </p:sp>
      <p:sp>
        <p:nvSpPr>
          <p:cNvPr id="8" name="Shape 6"/>
          <p:cNvSpPr/>
          <p:nvPr/>
        </p:nvSpPr>
        <p:spPr>
          <a:xfrm>
            <a:off x="2971800" y="2926080"/>
            <a:ext cx="2514600" cy="1920240"/>
          </a:xfrm>
          <a:prstGeom prst="rect">
            <a:avLst/>
          </a:prstGeom>
          <a:solidFill>
            <a:srgbClr val="0E1418"/>
          </a:solidFill>
          <a:ln/>
        </p:spPr>
      </p:sp>
      <p:sp>
        <p:nvSpPr>
          <p:cNvPr id="9" name="Shape 7"/>
          <p:cNvSpPr/>
          <p:nvPr/>
        </p:nvSpPr>
        <p:spPr>
          <a:xfrm>
            <a:off x="2971800" y="1005840"/>
            <a:ext cx="0" cy="3840480"/>
          </a:xfrm>
          <a:prstGeom prst="line">
            <a:avLst/>
          </a:prstGeom>
          <a:noFill/>
          <a:ln w="12700">
            <a:solidFill>
              <a:srgbClr val="304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5029200" cy="0"/>
          </a:xfrm>
          <a:prstGeom prst="line">
            <a:avLst/>
          </a:prstGeom>
          <a:noFill/>
          <a:ln w="12700">
            <a:solidFill>
              <a:srgbClr val="304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749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깊음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 기계적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13832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친화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69848" y="1207008"/>
            <a:ext cx="146304" cy="146304"/>
          </a:xfrm>
          <a:prstGeom prst="oval">
            <a:avLst/>
          </a:prstGeom>
          <a:solidFill>
            <a:srgbClr val="60708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Genshin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" y="3218688"/>
            <a:ext cx="146304" cy="146304"/>
          </a:xfrm>
          <a:prstGeom prst="oval">
            <a:avLst/>
          </a:prstGeom>
          <a:solidFill>
            <a:srgbClr val="60708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95928" y="3767328"/>
            <a:ext cx="146304" cy="146304"/>
          </a:xfrm>
          <a:prstGeom prst="oval">
            <a:avLst/>
          </a:prstGeom>
          <a:solidFill>
            <a:srgbClr val="607080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3931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41248" y="4041648"/>
            <a:ext cx="146304" cy="146304"/>
          </a:xfrm>
          <a:prstGeom prst="oval">
            <a:avLst/>
          </a:prstGeom>
          <a:solidFill>
            <a:srgbClr val="60708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51960" y="1371600"/>
            <a:ext cx="256032" cy="256032"/>
          </a:xfrm>
          <a:prstGeom prst="oval">
            <a:avLst/>
          </a:prstGeom>
          <a:solidFill>
            <a:srgbClr val="FFD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1664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백년의 월광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0332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공명 × 감성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 시장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60720" y="1005840"/>
            <a:ext cx="3017520" cy="11430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1005840"/>
            <a:ext cx="54864" cy="114300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공명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138988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1인이지만 두 캐릭터를 교대.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관계를 경험하는 독창적 구조.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286000"/>
            <a:ext cx="3017520" cy="11430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2286000"/>
            <a:ext cx="54864" cy="114300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없음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26700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오프라인 동작.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비용 0, 운영 부담 없음.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3566160"/>
            <a:ext cx="3017520" cy="11430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0" y="3566160"/>
            <a:ext cx="54864" cy="1143000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우울한 두 세계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39502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세계 모두 채도 억제.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공명 시에만 세상이 밝아진다.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페르소나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공명을 각자 다른 이유로 즐기는 세 타입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88920" cy="384048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384048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냥형 — 위상의 마법사형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김지수 · 26세 · 직장인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618488"/>
            <a:ext cx="2578608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페인포인트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코옵 스케줄 스트레스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플레이 보상 부재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하지만 두 캐릭터 관계 경험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흉터 시스템으로 사망=성장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198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패턴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시즌패스 $4.99/월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스킨 구매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1005840"/>
            <a:ext cx="2788920" cy="384048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005840"/>
            <a:ext cx="54864" cy="384048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8" name="Text 16"/>
          <p:cNvSpPr/>
          <p:nvPr/>
        </p:nvSpPr>
        <p:spPr>
          <a:xfrm>
            <a:off x="3401568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뭉형 — 숙련된 액션 탐구자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01568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이민준 · 32세 · 개발자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74136" y="1618488"/>
            <a:ext cx="2578608" cy="0"/>
          </a:xfrm>
          <a:prstGeom prst="line">
            <a:avLst/>
          </a:prstGeom>
          <a:noFill/>
          <a:ln w="6350">
            <a:solidFill>
              <a:srgbClr val="E8C8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페인포인트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1568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자동전투 싫음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다양성 부족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542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01568" y="275234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타이밍이 전략인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종별 6×6 조합 빌드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1568" y="34198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패턴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3630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후 납득 시 구매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기능적 스킨 선호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1005840"/>
            <a:ext cx="2788920" cy="384048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005840"/>
            <a:ext cx="54864" cy="3840480"/>
          </a:xfrm>
          <a:prstGeom prst="rect">
            <a:avLst/>
          </a:prstGeom>
          <a:solidFill>
            <a:srgbClr val="D8A0C0"/>
          </a:solidFill>
          <a:ln/>
        </p:spPr>
      </p:sp>
      <p:sp>
        <p:nvSpPr>
          <p:cNvPr id="29" name="Text 27"/>
          <p:cNvSpPr/>
          <p:nvPr/>
        </p:nvSpPr>
        <p:spPr>
          <a:xfrm>
            <a:off x="6345936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수집가형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45936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박소연 · 22세 · 대학생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18504" y="1618488"/>
            <a:ext cx="2578608" cy="0"/>
          </a:xfrm>
          <a:prstGeom prst="line">
            <a:avLst/>
          </a:prstGeom>
          <a:noFill/>
          <a:ln w="6350">
            <a:solidFill>
              <a:srgbClr val="D8A0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페인포인트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45936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공유할 감성 요소 부재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장벽 높은 로그라이트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2542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45936" y="275234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풀컬러 스크린샷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도트 비주얼 + 흉터 도감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45936" y="34198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패턴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45936" y="3630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 이벤트 스킨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책갈피 도감 수집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 목표 &amp; 수익화 전략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없는 구조 — 마진 극대화, Fair Monetization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103120" cy="11430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14300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리텐션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 평균 +5%p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2103120" cy="11430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05840"/>
            <a:ext cx="54864" cy="114300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97480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리텐션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 평균 +5%p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2103120" cy="11430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86000"/>
            <a:ext cx="54864" cy="1143000"/>
          </a:xfrm>
          <a:prstGeom prst="rect">
            <a:avLst/>
          </a:prstGeom>
          <a:solidFill>
            <a:srgbClr val="D8A0C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11480" y="2907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리텐션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108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재방문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06040" y="2286000"/>
            <a:ext cx="2103120" cy="11430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06040" y="2286000"/>
            <a:ext cx="54864" cy="1143000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2697480" y="2907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ARPU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108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비용 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83480" y="1005840"/>
            <a:ext cx="3794760" cy="13716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1005840"/>
            <a:ext cx="54864" cy="1371600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그리움 패스 (시즌패스)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1353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$4.99/월 · 플레이 보상 + 감성 스토리 해금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1581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비용 없음 → 저가 구독도 높은 마진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83480" y="2487168"/>
            <a:ext cx="3794760" cy="9144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2487168"/>
            <a:ext cx="54864" cy="914400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코스메틱 스킨 &amp; 장신구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$1.99~$5.99 · 게임플레이 영향 없음 · 순수 정체성 표현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502152"/>
            <a:ext cx="3794760" cy="914400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83480" y="3502152"/>
            <a:ext cx="54864" cy="914400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UA — Eclipse 스크린샷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20640" y="38496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공명 순간 채도 100% 폭발 → 스크린샷 → 틱톡/인스타 자연 확산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전환율 4.0%  ·  ARPPU $15.0  ·  BEP 런치 후 6개월 목표 (1인 개발 저비용 구조)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개발 로드맵 — AI 파이프라인 + 도트 아트 전략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없음 · AI 보조 · 도트 스프라이트로 1인이 완성 가능한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6350">
            <a:solidFill>
              <a:srgbClr val="A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566928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566928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33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2D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1338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엔진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3931920" cy="566928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54864" cy="566928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92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Aseprite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7922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도트 스프라이트 제작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3931920" cy="566928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22576"/>
            <a:ext cx="54864" cy="566928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50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450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AI 초안 생성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3931920" cy="566928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80944"/>
            <a:ext cx="54864" cy="566928"/>
          </a:xfrm>
          <a:prstGeom prst="rect">
            <a:avLst/>
          </a:prstGeom>
          <a:solidFill>
            <a:srgbClr val="D8A0C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/ Udio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48840" y="3108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AI 생성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3931920" cy="1170432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03320"/>
            <a:ext cx="54864" cy="1170432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파이프라인 효율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507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1세트 (7레이어): AI 초안 → 픽셀 마무리 = 4~6시간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1트랙: AI 생성 + 검수 = $0 + 2시간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 스프라이트 1종 = 2~4시간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1005840"/>
            <a:ext cx="4251960" cy="896112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1005840"/>
            <a:ext cx="54864" cy="896112"/>
          </a:xfrm>
          <a:prstGeom prst="rect">
            <a:avLst/>
          </a:prstGeom>
          <a:solidFill>
            <a:srgbClr val="A0C8E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097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932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1097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슬라이스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플레이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2011680"/>
            <a:ext cx="4251960" cy="896112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2011680"/>
            <a:ext cx="54864" cy="896112"/>
          </a:xfrm>
          <a:prstGeom prst="rect">
            <a:avLst/>
          </a:prstGeom>
          <a:solidFill>
            <a:srgbClr val="E8C890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8932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M4~M8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103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3개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흉터 시스템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26280" y="3017520"/>
            <a:ext cx="4251960" cy="896112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26280" y="3017520"/>
            <a:ext cx="54864" cy="896112"/>
          </a:xfrm>
          <a:prstGeom prst="rect">
            <a:avLst/>
          </a:prstGeom>
          <a:solidFill>
            <a:srgbClr val="FFD060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소프트런치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932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M9~M12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10개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앱스토어 출시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26280" y="4023360"/>
            <a:ext cx="4251960" cy="896112"/>
          </a:xfrm>
          <a:prstGeom prst="rect">
            <a:avLst/>
          </a:prstGeom>
          <a:solidFill>
            <a:srgbClr val="111820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26280" y="4023360"/>
            <a:ext cx="54864" cy="896112"/>
          </a:xfrm>
          <a:prstGeom prst="rect">
            <a:avLst/>
          </a:prstGeom>
          <a:solidFill>
            <a:srgbClr val="FF6840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4114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6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글로벌런치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8932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M13~M18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4114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현지화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 업데이트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1A2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81418"/>
          </a:solidFill>
          <a:ln/>
        </p:spPr>
      </p:sp>
      <p:sp>
        <p:nvSpPr>
          <p:cNvPr id="4" name="Shape 2"/>
          <p:cNvSpPr/>
          <p:nvPr/>
        </p:nvSpPr>
        <p:spPr>
          <a:xfrm>
            <a:off x="4526280" y="457200"/>
            <a:ext cx="0" cy="4206240"/>
          </a:xfrm>
          <a:prstGeom prst="line">
            <a:avLst/>
          </a:prstGeom>
          <a:noFill/>
          <a:ln w="19050">
            <a:solidFill>
              <a:srgbClr val="FFD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저주를 깨는 100초의 경이,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찰나의 색이 만들어낼 감동과 비즈니스 성과.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1인이 완성하는 — 서버 없이, AI와 함께, 도트로 그려낸 가장 감성적인 교대 액션 로그라이트.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contact@eclipse-studio.com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백년의 월광: 꼬리가 닿는 거리</dc:title>
  <dc:subject>PptxGenJS Presentation</dc:subject>
  <dc:creator>PptxGenJS</dc:creator>
  <cp:lastModifiedBy>PptxGenJS</cp:lastModifiedBy>
  <cp:revision>1</cp:revision>
  <dcterms:created xsi:type="dcterms:W3CDTF">2026-05-01T11:02:58Z</dcterms:created>
  <dcterms:modified xsi:type="dcterms:W3CDTF">2026-05-01T11:02:58Z</dcterms:modified>
</cp:coreProperties>
</file>