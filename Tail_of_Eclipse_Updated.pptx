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E181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A1018"/>
          </a:solidFill>
          <a:ln/>
        </p:spPr>
      </p:sp>
      <p:sp>
        <p:nvSpPr>
          <p:cNvPr id="4" name="Shape 2"/>
          <p:cNvSpPr/>
          <p:nvPr/>
        </p:nvSpPr>
        <p:spPr>
          <a:xfrm>
            <a:off x="4480560" y="0"/>
            <a:ext cx="182880" cy="5143500"/>
          </a:xfrm>
          <a:prstGeom prst="rect">
            <a:avLst/>
          </a:prstGeom>
          <a:solidFill>
            <a:srgbClr val="FFE880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A8A4A"/>
                </a:solidFill>
              </a:rPr>
              <a:t>냥의 세계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3A6A3A"/>
                </a:solidFill>
              </a:rPr>
              <a:t>녹색 위상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A6A90"/>
                </a:solidFill>
              </a:rPr>
              <a:t>뭉의 세계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3A5070"/>
                </a:solidFill>
              </a:rPr>
              <a:t>파란 위상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6400800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백년의 월광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E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꼬리가 닿는 거리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888888"/>
                </a:solidFill>
              </a:rPr>
              <a:t>교대 플레이 × 위상 공명 × 감성 로그라이트  |  Mobile &amp; PC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spc="200" kern="0" dirty="0">
                <a:solidFill>
                  <a:srgbClr val="FFE880"/>
                </a:solidFill>
              </a:rPr>
              <a:t>공명 100% → Eclipse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4023360"/>
            <a:ext cx="731520" cy="91440"/>
          </a:xfrm>
          <a:prstGeom prst="rect">
            <a:avLst/>
          </a:prstGeom>
          <a:solidFill>
            <a:srgbClr val="FFE880">
              <a:alpha val="8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같은 공간, 다른 위상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냥과 뭉은 같은 세계에 있지만, 서로 다른 위상에서 전투하고 있다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840480" cy="3200400"/>
          </a:xfrm>
          <a:prstGeom prst="rect">
            <a:avLst/>
          </a:prstGeom>
          <a:solidFill>
            <a:srgbClr val="0E181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3840480" cy="54864"/>
          </a:xfrm>
          <a:prstGeom prst="rect">
            <a:avLst/>
          </a:prstGeom>
          <a:solidFill>
            <a:srgbClr val="6DB86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B86D"/>
                </a:solidFill>
              </a:rPr>
              <a:t>냥의 세계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8A4A"/>
                </a:solidFill>
              </a:rPr>
              <a:t>녹색 위상  ·  6800K 달빛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CCAA"/>
                </a:solidFill>
              </a:rPr>
              <a:t>• 달빛 안개가 낀 고요한 숲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CCAA"/>
                </a:solidFill>
              </a:rPr>
              <a:t>• 혼자 보이지 않는 뭉의 흔적을 쫓는다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CCAA"/>
                </a:solidFill>
              </a:rPr>
              <a:t>• 멈추면 자동사격 — 이동이 회피이자 흔적 생성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CCAA"/>
                </a:solidFill>
              </a:rPr>
              <a:t>• 뭉의 파란 흔적 위에 서면 공명 게이지 충전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8A4A"/>
                </a:solidFill>
              </a:rPr>
              <a:t>검은 고양이  ·  마법 원거리  ·  우산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1188720"/>
            <a:ext cx="3840480" cy="3200400"/>
          </a:xfrm>
          <a:prstGeom prst="rect">
            <a:avLst/>
          </a:prstGeom>
          <a:solidFill>
            <a:srgbClr val="0A101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188720"/>
            <a:ext cx="3840480" cy="54864"/>
          </a:xfrm>
          <a:prstGeom prst="rect">
            <a:avLst/>
          </a:prstGeom>
          <a:solidFill>
            <a:srgbClr val="6899C0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899C0"/>
                </a:solidFill>
              </a:rPr>
              <a:t>뭉의 세계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A90"/>
                </a:solidFill>
              </a:rPr>
              <a:t>파란 위상  ·  3400K 빗속 성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21031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BBD0"/>
                </a:solidFill>
              </a:rPr>
              <a:t>• 빗방울이 내리는 웅장한 성 실루엣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BBD0"/>
                </a:solidFill>
              </a:rPr>
              <a:t>• 해맑게 냥의 흔적을 남기며 배회한다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BBD0"/>
                </a:solidFill>
              </a:rPr>
              <a:t>• 녹색 흔적 위에 서면 분노 게이지 충전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BBD0"/>
                </a:solidFill>
              </a:rPr>
              <a:t>• 교대 시 공명 +5% — 교대가 전략이 된다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A90"/>
                </a:solidFill>
              </a:rPr>
              <a:t>흰 사모예드  ·  방패 근거리  ·  탱크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2468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E880"/>
                </a:solidFill>
              </a:rPr>
              <a:t>↔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069080" y="3017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</a:rPr>
              <a:t>Tab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457200"/>
            <a:ext cx="5486400" cy="4206240"/>
          </a:xfrm>
          <a:prstGeom prst="ellipse">
            <a:avLst/>
          </a:prstGeom>
          <a:solidFill>
            <a:srgbClr val="FFE880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914400"/>
            <a:ext cx="3657600" cy="3200400"/>
          </a:xfrm>
          <a:prstGeom prst="ellipse">
            <a:avLst/>
          </a:prstGeom>
          <a:solidFill>
            <a:srgbClr val="FFE88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300" kern="0" dirty="0">
                <a:solidFill>
                  <a:srgbClr val="FFE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Eclipse Trigger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868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AA40"/>
                </a:solidFill>
              </a:rPr>
              <a:t>공명 100% — 두 위상이 겹친다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828800" cy="3108960"/>
          </a:xfrm>
          <a:prstGeom prst="rect">
            <a:avLst/>
          </a:prstGeom>
          <a:solidFill>
            <a:srgbClr val="1A1A2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1828800" cy="45720"/>
          </a:xfrm>
          <a:prstGeom prst="rect">
            <a:avLst/>
          </a:prstGeom>
          <a:solidFill>
            <a:srgbClr val="4A8A4A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508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8A4A"/>
                </a:solidFill>
              </a:rPr>
              <a:t>고독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8288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0~110s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219456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BBBBB"/>
                </a:solidFill>
              </a:rPr>
              <a:t>흔적 발견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BBBBB"/>
                </a:solidFill>
              </a:rPr>
              <a:t>그리움 게이지 축적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BBBBB"/>
                </a:solidFill>
              </a:rPr>
              <a:t>배경 채도 35%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0" y="2971800"/>
            <a:ext cx="2743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560320" y="1417320"/>
            <a:ext cx="1828800" cy="3108960"/>
          </a:xfrm>
          <a:prstGeom prst="rect">
            <a:avLst/>
          </a:prstGeom>
          <a:solidFill>
            <a:srgbClr val="1A1A2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1417320"/>
            <a:ext cx="1828800" cy="45720"/>
          </a:xfrm>
          <a:prstGeom prst="rect">
            <a:avLst/>
          </a:prstGeom>
          <a:solidFill>
            <a:srgbClr val="CC9933"/>
          </a:solidFill>
          <a:ln/>
        </p:spPr>
      </p:sp>
      <p:sp>
        <p:nvSpPr>
          <p:cNvPr id="14" name="Text 12"/>
          <p:cNvSpPr/>
          <p:nvPr/>
        </p:nvSpPr>
        <p:spPr>
          <a:xfrm>
            <a:off x="2633472" y="1508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9933"/>
                </a:solidFill>
              </a:rPr>
              <a:t>1차 공명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33472" y="18288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110~150s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33472" y="219456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BBBBB"/>
                </a:solidFill>
              </a:rPr>
              <a:t>파트너 반투명 실루엣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BBBBB"/>
                </a:solidFill>
              </a:rPr>
              <a:t>채도 55% 상승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BBBBB"/>
                </a:solidFill>
              </a:rPr>
              <a:t>벚꽃 파티클 폭발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0" y="2971800"/>
            <a:ext cx="2743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663440" y="1417320"/>
            <a:ext cx="1828800" cy="3108960"/>
          </a:xfrm>
          <a:prstGeom prst="rect">
            <a:avLst/>
          </a:prstGeom>
          <a:solidFill>
            <a:srgbClr val="1A1A2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417320"/>
            <a:ext cx="1828800" cy="45720"/>
          </a:xfrm>
          <a:prstGeom prst="rect">
            <a:avLst/>
          </a:prstGeom>
          <a:solidFill>
            <a:srgbClr val="A05050"/>
          </a:solidFill>
          <a:ln/>
        </p:spPr>
      </p:sp>
      <p:sp>
        <p:nvSpPr>
          <p:cNvPr id="20" name="Text 18"/>
          <p:cNvSpPr/>
          <p:nvPr/>
        </p:nvSpPr>
        <p:spPr>
          <a:xfrm>
            <a:off x="4736592" y="1508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5050"/>
                </a:solidFill>
              </a:rPr>
              <a:t>긴장 재상승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36592" y="18288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150~240s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36592" y="219456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BBBBB"/>
                </a:solidFill>
              </a:rPr>
              <a:t>혼자만의 사투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BBBBB"/>
                </a:solidFill>
              </a:rPr>
              <a:t>흉터 선택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BBBBB"/>
                </a:solidFill>
              </a:rPr>
              <a:t>다시 빌드업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0" y="2971800"/>
            <a:ext cx="2743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766560" y="1417320"/>
            <a:ext cx="1828800" cy="3108960"/>
          </a:xfrm>
          <a:prstGeom prst="rect">
            <a:avLst/>
          </a:prstGeom>
          <a:solidFill>
            <a:srgbClr val="1A1A2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1417320"/>
            <a:ext cx="1828800" cy="45720"/>
          </a:xfrm>
          <a:prstGeom prst="rect">
            <a:avLst/>
          </a:prstGeom>
          <a:solidFill>
            <a:srgbClr val="FFE880"/>
          </a:solidFill>
          <a:ln/>
        </p:spPr>
      </p:sp>
      <p:sp>
        <p:nvSpPr>
          <p:cNvPr id="26" name="Text 24"/>
          <p:cNvSpPr/>
          <p:nvPr/>
        </p:nvSpPr>
        <p:spPr>
          <a:xfrm>
            <a:off x="6839712" y="1508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880"/>
                </a:solidFill>
              </a:rPr>
              <a:t>2차 공명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39712" y="18288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240~340s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39712" y="219456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BBBBB"/>
                </a:solidFill>
              </a:rPr>
              <a:t>완전한 재회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BBBBB"/>
                </a:solidFill>
              </a:rPr>
              <a:t>풀컬러 Eclipse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BBBBB"/>
                </a:solidFill>
              </a:rPr>
              <a:t>2.5× 대미지 시너지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1A1A10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663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E880"/>
                </a:solidFill>
              </a:rPr>
              <a:t>Eclipse 발동 시: 2.5× 대미지 시너지  ·  풀컬러 화면 전환  ·  냥+뭉 동시 전투  ·  타이머 소진 후 위상 복귀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시장 포지셔닝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감성적 비동기 코업 × 하드코어 액션 로그라이트 — 현재 글로벌 시장의 공백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2834640"/>
            <a:ext cx="76809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1188720"/>
            <a:ext cx="0" cy="329184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914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감성적 비동기 코업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4526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스트레스성 실시간 코업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26974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캐주얼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58200" y="26974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하드코어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66467" y="2187245"/>
            <a:ext cx="109728" cy="109728"/>
          </a:xfrm>
          <a:prstGeom prst="ellipse">
            <a:avLst/>
          </a:prstGeom>
          <a:solidFill>
            <a:srgbClr val="AAAAAA"/>
          </a:solidFill>
          <a:ln/>
        </p:spPr>
      </p:sp>
      <p:sp>
        <p:nvSpPr>
          <p:cNvPr id="11" name="Text 9"/>
          <p:cNvSpPr/>
          <p:nvPr/>
        </p:nvSpPr>
        <p:spPr>
          <a:xfrm>
            <a:off x="2512771" y="2150669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Journey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64992" y="3174797"/>
            <a:ext cx="109728" cy="109728"/>
          </a:xfrm>
          <a:prstGeom prst="ellipse">
            <a:avLst/>
          </a:prstGeom>
          <a:solidFill>
            <a:srgbClr val="AAAAAA"/>
          </a:solidFill>
          <a:ln/>
        </p:spPr>
      </p:sp>
      <p:sp>
        <p:nvSpPr>
          <p:cNvPr id="13" name="Text 11"/>
          <p:cNvSpPr/>
          <p:nvPr/>
        </p:nvSpPr>
        <p:spPr>
          <a:xfrm>
            <a:off x="3511296" y="3138221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Archero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38851" y="3108960"/>
            <a:ext cx="109728" cy="109728"/>
          </a:xfrm>
          <a:prstGeom prst="ellipse">
            <a:avLst/>
          </a:prstGeom>
          <a:solidFill>
            <a:srgbClr val="AAAAAA"/>
          </a:solidFill>
          <a:ln/>
        </p:spPr>
      </p:sp>
      <p:sp>
        <p:nvSpPr>
          <p:cNvPr id="15" name="Text 13"/>
          <p:cNvSpPr/>
          <p:nvPr/>
        </p:nvSpPr>
        <p:spPr>
          <a:xfrm>
            <a:off x="5585155" y="307238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Hades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0" y="3273552"/>
            <a:ext cx="109728" cy="109728"/>
          </a:xfrm>
          <a:prstGeom prst="ellipse">
            <a:avLst/>
          </a:prstGeom>
          <a:solidFill>
            <a:srgbClr val="AAAAAA"/>
          </a:solidFill>
          <a:ln/>
        </p:spPr>
      </p:sp>
      <p:sp>
        <p:nvSpPr>
          <p:cNvPr id="17" name="Text 15"/>
          <p:cNvSpPr/>
          <p:nvPr/>
        </p:nvSpPr>
        <p:spPr>
          <a:xfrm>
            <a:off x="5815584" y="32369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Pascal's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Wager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34840" y="1874520"/>
            <a:ext cx="274320" cy="274320"/>
          </a:xfrm>
          <a:prstGeom prst="ellipse">
            <a:avLst/>
          </a:prstGeom>
          <a:solidFill>
            <a:srgbClr val="FFE880"/>
          </a:solidFill>
          <a:ln/>
        </p:spPr>
      </p:sp>
      <p:sp>
        <p:nvSpPr>
          <p:cNvPr id="19" name="Shape 17"/>
          <p:cNvSpPr/>
          <p:nvPr/>
        </p:nvSpPr>
        <p:spPr>
          <a:xfrm>
            <a:off x="4315968" y="1755648"/>
            <a:ext cx="512064" cy="512064"/>
          </a:xfrm>
          <a:prstGeom prst="ellipse">
            <a:avLst/>
          </a:prstGeom>
          <a:solidFill>
            <a:srgbClr val="FFE880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736592" y="1810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4"/>
                </a:solidFill>
              </a:rPr>
              <a:t>백년의 월광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36592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(변경 후)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77763" y="1912925"/>
            <a:ext cx="-1305763" cy="98755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832043" y="1867205"/>
            <a:ext cx="91440" cy="91440"/>
          </a:xfrm>
          <a:prstGeom prst="ellipse">
            <a:avLst/>
          </a:prstGeom>
          <a:solidFill>
            <a:srgbClr val="BBBBBB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969203" y="177576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BBBBB"/>
                </a:solidFill>
              </a:rPr>
              <a:t>현재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F0EFE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6268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F14"/>
                </a:solidFill>
              </a:rPr>
              <a:t>혼자 플레이하지만, 누군가와 연결된 감각  —  비동기 코업의 안정성과 감성 서사가 결합된 라이트코어 액션 로그라이트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플레이어 페르소나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06040" cy="3749040"/>
          </a:xfrm>
          <a:prstGeom prst="rect">
            <a:avLst/>
          </a:prstGeom>
          <a:solidFill>
            <a:srgbClr val="0E181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2606040" cy="54864"/>
          </a:xfrm>
          <a:prstGeom prst="rect">
            <a:avLst/>
          </a:prstGeom>
          <a:solidFill>
            <a:srgbClr val="6DB86D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1155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B86D"/>
                </a:solidFill>
              </a:rPr>
              <a:t>냥형 플레이어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" y="1435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위상의 마법사형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" y="1810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7777"/>
                </a:solidFill>
              </a:rPr>
              <a:t>페인포인트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202996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BBBBB"/>
                </a:solidFill>
              </a:rPr>
              <a:t>실시간 코업 스케줄 스트레스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BBBBB"/>
                </a:solidFill>
              </a:rPr>
              <a:t>로그라이트의 사망=손실 구조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788920"/>
            <a:ext cx="237744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852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B86D"/>
                </a:solidFill>
              </a:rPr>
              <a:t>해결책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3072384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CCCCC"/>
                </a:solidFill>
              </a:rPr>
              <a:t>흔적 기반 비동기 코업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CCCCC"/>
                </a:solidFill>
              </a:rPr>
              <a:t>+ 사망을 자산으로 바꾸는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CCCCC"/>
                </a:solidFill>
              </a:rPr>
              <a:t>흉터(Scar) 시스템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606040" cy="3749040"/>
          </a:xfrm>
          <a:prstGeom prst="rect">
            <a:avLst/>
          </a:prstGeom>
          <a:solidFill>
            <a:srgbClr val="0A101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05840"/>
            <a:ext cx="2606040" cy="54864"/>
          </a:xfrm>
          <a:prstGeom prst="rect">
            <a:avLst/>
          </a:prstGeom>
          <a:solidFill>
            <a:srgbClr val="6899C0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1155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899C0"/>
                </a:solidFill>
              </a:rPr>
              <a:t>뭉형 플레이어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10128" y="1435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묵직한 수호자형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10128" y="1810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7777"/>
                </a:solidFill>
              </a:rPr>
              <a:t>페인포인트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10128" y="202996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BBBBB"/>
                </a:solidFill>
              </a:rPr>
              <a:t>단조로운 모바일 자동전투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BBBBB"/>
                </a:solidFill>
              </a:rPr>
              <a:t>부족한 빌드 다양성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10128" y="2788920"/>
            <a:ext cx="237744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2852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899C0"/>
                </a:solidFill>
              </a:rPr>
              <a:t>해결책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0128" y="3072384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CCCCC"/>
                </a:solidFill>
              </a:rPr>
              <a:t>방 단위 + Archero식 교대 조작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CCCCC"/>
                </a:solidFill>
              </a:rPr>
              <a:t>+ Hilt/Blade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CCCCC"/>
                </a:solidFill>
              </a:rPr>
              <a:t>모듈형 무기 시스템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005840"/>
            <a:ext cx="2606040" cy="3749040"/>
          </a:xfrm>
          <a:prstGeom prst="rect">
            <a:avLst/>
          </a:prstGeom>
          <a:solidFill>
            <a:srgbClr val="1A140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005840"/>
            <a:ext cx="2606040" cy="54864"/>
          </a:xfrm>
          <a:prstGeom prst="rect">
            <a:avLst/>
          </a:prstGeom>
          <a:solidFill>
            <a:srgbClr val="CC9944"/>
          </a:solidFill>
          <a:ln/>
        </p:spPr>
      </p:sp>
      <p:sp>
        <p:nvSpPr>
          <p:cNvPr id="23" name="Text 21"/>
          <p:cNvSpPr/>
          <p:nvPr/>
        </p:nvSpPr>
        <p:spPr>
          <a:xfrm>
            <a:off x="6144768" y="11155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9944"/>
                </a:solidFill>
              </a:rPr>
              <a:t>라이트코어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44768" y="1435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감성 수집가형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44768" y="1810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7777"/>
                </a:solidFill>
              </a:rPr>
              <a:t>페인포인트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44768" y="202996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BBBBB"/>
                </a:solidFill>
              </a:rPr>
              <a:t>SNS에 공유할 감성 요소 부재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BBBBB"/>
                </a:solidFill>
              </a:rPr>
              <a:t>하드코어 액션 진입 장벽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44768" y="2788920"/>
            <a:ext cx="237744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2852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9944"/>
                </a:solidFill>
              </a:rPr>
              <a:t>해결책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44768" y="3072384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CCCCC"/>
                </a:solidFill>
              </a:rPr>
              <a:t>도트셰이더 비주얼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CCCCC"/>
                </a:solidFill>
              </a:rPr>
              <a:t>+ 벚꽃 책갈피 등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CCCCC"/>
                </a:solidFill>
              </a:rPr>
              <a:t>감성 수집 요소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도트셰이더 비주얼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3D 로우폴리 + 픽셀 포스트프로세싱  |  HD-2D 방향, 독자 명칭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6217920" cy="438912"/>
          </a:xfrm>
          <a:prstGeom prst="rect">
            <a:avLst/>
          </a:prstGeom>
          <a:solidFill>
            <a:srgbClr val="1A2A1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L7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" y="1234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8A4A"/>
                </a:solidFill>
              </a:rPr>
              <a:t>Sky gradient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08960" y="12618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냥 6800K #C8D4DC  →  뭉 3400K #DDD0A8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0" y="1280160"/>
            <a:ext cx="640080" cy="256032"/>
          </a:xfrm>
          <a:prstGeom prst="rect">
            <a:avLst/>
          </a:prstGeom>
          <a:solidFill>
            <a:srgbClr val="1A2A1A"/>
          </a:solidFill>
          <a:ln w="6350">
            <a:solidFill>
              <a:srgbClr val="4A8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12801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8A4A"/>
                </a:solidFill>
              </a:rPr>
              <a:t>유지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682496"/>
            <a:ext cx="6217920" cy="438912"/>
          </a:xfrm>
          <a:prstGeom prst="rect">
            <a:avLst/>
          </a:prstGeom>
          <a:solidFill>
            <a:srgbClr val="1A2A1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2821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L6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" y="17282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8A4A"/>
                </a:solidFill>
              </a:rPr>
              <a:t>원경 실루엣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17556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냥=달빛 숲  /  뭉=성 실루엣. parallax ×0.3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1773936"/>
            <a:ext cx="640080" cy="256032"/>
          </a:xfrm>
          <a:prstGeom prst="rect">
            <a:avLst/>
          </a:prstGeom>
          <a:solidFill>
            <a:srgbClr val="1A2A1A"/>
          </a:solidFill>
          <a:ln w="6350">
            <a:solidFill>
              <a:srgbClr val="4A8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7739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8A4A"/>
                </a:solidFill>
              </a:rPr>
              <a:t>유지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176272"/>
            <a:ext cx="6217920" cy="438912"/>
          </a:xfrm>
          <a:prstGeom prst="rect">
            <a:avLst/>
          </a:prstGeom>
          <a:solidFill>
            <a:srgbClr val="1A2A1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22199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L5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" y="22219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8A4A"/>
                </a:solidFill>
              </a:rPr>
              <a:t>중경 배경 오브젝트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08960" y="22494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나무/성벽. parallax ×0.5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2267712"/>
            <a:ext cx="640080" cy="256032"/>
          </a:xfrm>
          <a:prstGeom prst="rect">
            <a:avLst/>
          </a:prstGeom>
          <a:solidFill>
            <a:srgbClr val="1A2A1A"/>
          </a:solidFill>
          <a:ln w="6350">
            <a:solidFill>
              <a:srgbClr val="4A8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22677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8A4A"/>
                </a:solidFill>
              </a:rPr>
              <a:t>유지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670048"/>
            <a:ext cx="6217920" cy="438912"/>
          </a:xfrm>
          <a:prstGeom prst="rect">
            <a:avLst/>
          </a:prstGeom>
          <a:solidFill>
            <a:srgbClr val="1A1A2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7157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L4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1560" y="27157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899C0"/>
                </a:solidFill>
              </a:rPr>
              <a:t>★ 3D 소품 레이어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960" y="27432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3D 소품 + 도트셰이더. AO bake + 프레넬 림라이트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2761488"/>
            <a:ext cx="640080" cy="256032"/>
          </a:xfrm>
          <a:prstGeom prst="rect">
            <a:avLst/>
          </a:prstGeom>
          <a:solidFill>
            <a:srgbClr val="1A1A2A"/>
          </a:solidFill>
          <a:ln w="6350">
            <a:solidFill>
              <a:srgbClr val="6899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2761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899C0"/>
                </a:solidFill>
              </a:rPr>
              <a:t>신규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3163824"/>
            <a:ext cx="6217920" cy="438912"/>
          </a:xfrm>
          <a:prstGeom prst="rect">
            <a:avLst/>
          </a:prstGeom>
          <a:solidFill>
            <a:srgbClr val="2A1A0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2095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L3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1560" y="32095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9944"/>
                </a:solidFill>
              </a:rPr>
              <a:t>★ 캐릭터 (냥/뭉)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08960" y="32369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로우폴리 800~1,200 poly  _PixelSize 3px  _ShadowStep 0.45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66560" y="3255264"/>
            <a:ext cx="640080" cy="256032"/>
          </a:xfrm>
          <a:prstGeom prst="rect">
            <a:avLst/>
          </a:prstGeom>
          <a:solidFill>
            <a:srgbClr val="2A1A0A"/>
          </a:solidFill>
          <a:ln w="6350">
            <a:solidFill>
              <a:srgbClr val="CC99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32552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9944"/>
                </a:solidFill>
              </a:rPr>
              <a:t>변경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3657600"/>
            <a:ext cx="6217920" cy="438912"/>
          </a:xfrm>
          <a:prstGeom prst="rect">
            <a:avLst/>
          </a:prstGeom>
          <a:solidFill>
            <a:srgbClr val="1A2A1A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7033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L2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51560" y="37033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8A4A"/>
                </a:solidFill>
              </a:rPr>
              <a:t>바닥 / 흔적 파티클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108960" y="3730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냥 #A0C8E0 은청  /  뭉 #E8C890 황금. Eclipse=혼합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66560" y="3749040"/>
            <a:ext cx="640080" cy="256032"/>
          </a:xfrm>
          <a:prstGeom prst="rect">
            <a:avLst/>
          </a:prstGeom>
          <a:solidFill>
            <a:srgbClr val="1A2A1A"/>
          </a:solidFill>
          <a:ln w="6350">
            <a:solidFill>
              <a:srgbClr val="4A8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3749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8A4A"/>
                </a:solidFill>
              </a:rPr>
              <a:t>유지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4151376"/>
            <a:ext cx="6217920" cy="438912"/>
          </a:xfrm>
          <a:prstGeom prst="rect">
            <a:avLst/>
          </a:prstGeom>
          <a:solidFill>
            <a:srgbClr val="1A0A2A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19709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L1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51560" y="41970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44CC"/>
                </a:solidFill>
              </a:rPr>
              <a:t>전경 VFX 오버레이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108960" y="42245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벚꽃 파티클. Eclipse 시 픽셀 디졸브 전환 추가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766560" y="4242816"/>
            <a:ext cx="640080" cy="256032"/>
          </a:xfrm>
          <a:prstGeom prst="rect">
            <a:avLst/>
          </a:prstGeom>
          <a:solidFill>
            <a:srgbClr val="1A0A2A"/>
          </a:solidFill>
          <a:ln w="6350">
            <a:solidFill>
              <a:srgbClr val="9944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0" y="42428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44CC"/>
                </a:solidFill>
              </a:rPr>
              <a:t>보강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406640" y="1188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셰이더 핵심 파라미터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06640" y="1508760"/>
            <a:ext cx="1554480" cy="365760"/>
          </a:xfrm>
          <a:prstGeom prst="rect">
            <a:avLst/>
          </a:prstGeom>
          <a:solidFill>
            <a:srgbClr val="0A1808"/>
          </a:solidFill>
          <a:ln w="3810">
            <a:solidFill>
              <a:srgbClr val="6DB86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15270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B86D"/>
                </a:solidFill>
              </a:rPr>
              <a:t>_PixelSize 3px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06640" y="1965960"/>
            <a:ext cx="1554480" cy="365760"/>
          </a:xfrm>
          <a:prstGeom prst="rect">
            <a:avLst/>
          </a:prstGeom>
          <a:solidFill>
            <a:srgbClr val="0A1808"/>
          </a:solidFill>
          <a:ln w="3810">
            <a:solidFill>
              <a:srgbClr val="6DB86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52360" y="19842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B86D"/>
                </a:solidFill>
              </a:rPr>
              <a:t>_ShadowStep 0.45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406640" y="2423160"/>
            <a:ext cx="1554480" cy="365760"/>
          </a:xfrm>
          <a:prstGeom prst="rect">
            <a:avLst/>
          </a:prstGeom>
          <a:solidFill>
            <a:srgbClr val="0A1808"/>
          </a:solidFill>
          <a:ln w="3810">
            <a:solidFill>
              <a:srgbClr val="6DB86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52360" y="24414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B86D"/>
                </a:solidFill>
              </a:rPr>
              <a:t>_RimPower 3.2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406640" y="2880360"/>
            <a:ext cx="1554480" cy="365760"/>
          </a:xfrm>
          <a:prstGeom prst="rect">
            <a:avLst/>
          </a:prstGeom>
          <a:solidFill>
            <a:srgbClr val="0A1808"/>
          </a:solidFill>
          <a:ln w="3810">
            <a:solidFill>
              <a:srgbClr val="6DB86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52360" y="28986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B86D"/>
                </a:solidFill>
              </a:rPr>
              <a:t>800~1,200 poly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메커니즘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023360" cy="1170432"/>
          </a:xfrm>
          <a:prstGeom prst="rect">
            <a:avLst/>
          </a:prstGeom>
          <a:solidFill>
            <a:srgbClr val="F8F8F6"/>
          </a:solidFill>
          <a:ln w="3810">
            <a:solidFill>
              <a:srgbClr val="E0E0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54864" cy="1170432"/>
          </a:xfrm>
          <a:prstGeom prst="rect">
            <a:avLst/>
          </a:prstGeom>
          <a:solidFill>
            <a:srgbClr val="6DB86D"/>
          </a:solidFill>
          <a:ln/>
        </p:spPr>
      </p:sp>
      <p:sp>
        <p:nvSpPr>
          <p:cNvPr id="5" name="Text 3"/>
          <p:cNvSpPr/>
          <p:nvPr/>
        </p:nvSpPr>
        <p:spPr>
          <a:xfrm>
            <a:off x="493776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B86D"/>
                </a:solidFill>
              </a:rPr>
              <a:t>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1430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4"/>
                </a:solidFill>
              </a:rPr>
              <a:t>멈추면 자동사격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" y="149047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A3A3A"/>
                </a:solidFill>
              </a:rPr>
              <a:t>이동 중에는 공격 없음. 멈추는 순간 가장 가까운 적 자동 조준. 이동=회피, 멈춤=공격의 핵심 트레이드오프.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350008"/>
            <a:ext cx="4023360" cy="1170432"/>
          </a:xfrm>
          <a:prstGeom prst="rect">
            <a:avLst/>
          </a:prstGeom>
          <a:solidFill>
            <a:srgbClr val="F8F8F6"/>
          </a:solidFill>
          <a:ln w="3810">
            <a:solidFill>
              <a:srgbClr val="E0E0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50008"/>
            <a:ext cx="54864" cy="1170432"/>
          </a:xfrm>
          <a:prstGeom prst="rect">
            <a:avLst/>
          </a:prstGeom>
          <a:solidFill>
            <a:srgbClr val="6899C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" y="2441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899C0"/>
                </a:solidFill>
              </a:rPr>
              <a:t>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4414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4"/>
                </a:solidFill>
              </a:rPr>
              <a:t>이동 = 흔적 + 공명 충전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" y="278892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A3A3A"/>
                </a:solidFill>
              </a:rPr>
              <a:t>이동 시 바닥에 흔적이 남고 공명 게이지 충전. 파트너의 흔적 위에 서면 충전 속도 상승. 이동이 동시에 3가지 역할.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648456"/>
            <a:ext cx="4023360" cy="1170432"/>
          </a:xfrm>
          <a:prstGeom prst="rect">
            <a:avLst/>
          </a:prstGeom>
          <a:solidFill>
            <a:srgbClr val="F8F8F6"/>
          </a:solidFill>
          <a:ln w="3810">
            <a:solidFill>
              <a:srgbClr val="E0E0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648456"/>
            <a:ext cx="54864" cy="1170432"/>
          </a:xfrm>
          <a:prstGeom prst="rect">
            <a:avLst/>
          </a:prstGeom>
          <a:solidFill>
            <a:srgbClr val="CC9944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" y="3739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9944"/>
                </a:solidFill>
              </a:rPr>
              <a:t>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73989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4"/>
                </a:solidFill>
              </a:rPr>
              <a:t>교대 플레이 — 전략적 이유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" y="408736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A3A3A"/>
                </a:solidFill>
              </a:rPr>
              <a:t>HP, 적 근접도, 공명 충전률에 따라 실시간 힌트. 교대 시 공명 +5%. 사망하지 않고 두 캐릭터를 번갈아 쓴다.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051560"/>
            <a:ext cx="4023360" cy="1170432"/>
          </a:xfrm>
          <a:prstGeom prst="rect">
            <a:avLst/>
          </a:prstGeom>
          <a:solidFill>
            <a:srgbClr val="F8F8F6"/>
          </a:solidFill>
          <a:ln w="3810">
            <a:solidFill>
              <a:srgbClr val="E0E0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051560"/>
            <a:ext cx="54864" cy="1170432"/>
          </a:xfrm>
          <a:prstGeom prst="rect">
            <a:avLst/>
          </a:prstGeom>
          <a:solidFill>
            <a:srgbClr val="FFE880"/>
          </a:solidFill>
          <a:ln/>
        </p:spPr>
      </p:sp>
      <p:sp>
        <p:nvSpPr>
          <p:cNvPr id="20" name="Text 18"/>
          <p:cNvSpPr/>
          <p:nvPr/>
        </p:nvSpPr>
        <p:spPr>
          <a:xfrm>
            <a:off x="4882896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880"/>
                </a:solidFill>
              </a:rPr>
              <a:t>④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12080" y="11430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4"/>
                </a:solidFill>
              </a:rPr>
              <a:t>공명 방출 — 잔향 탄막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82896" y="149047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A3A3A"/>
                </a:solidFill>
              </a:rPr>
              <a:t>공명 100% 도달 시 Eclipse 발동. 냥+뭉이 같은 위상으로 합체. 잔향 탄막이 모든 적에게 퍼짐. 2.5× 대미지.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350008"/>
            <a:ext cx="4023360" cy="1170432"/>
          </a:xfrm>
          <a:prstGeom prst="rect">
            <a:avLst/>
          </a:prstGeom>
          <a:solidFill>
            <a:srgbClr val="F8F8F6"/>
          </a:solidFill>
          <a:ln w="3810">
            <a:solidFill>
              <a:srgbClr val="E0E0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350008"/>
            <a:ext cx="54864" cy="1170432"/>
          </a:xfrm>
          <a:prstGeom prst="rect">
            <a:avLst/>
          </a:prstGeom>
          <a:solidFill>
            <a:srgbClr val="9944CC"/>
          </a:solidFill>
          <a:ln/>
        </p:spPr>
      </p:sp>
      <p:sp>
        <p:nvSpPr>
          <p:cNvPr id="25" name="Text 23"/>
          <p:cNvSpPr/>
          <p:nvPr/>
        </p:nvSpPr>
        <p:spPr>
          <a:xfrm>
            <a:off x="4882896" y="2441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44CC"/>
                </a:solidFill>
              </a:rPr>
              <a:t>⑤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24414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4"/>
                </a:solidFill>
              </a:rPr>
              <a:t>흉터(Scar) — 사망=자산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82896" y="278892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A3A3A"/>
                </a:solidFill>
              </a:rPr>
              <a:t>방 실패 시 Type A/B/C/D 선택. 전투/감성/탐험/유산. 사망이 페널티가 아닌 다음 런의 성장 자원.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648456"/>
            <a:ext cx="4023360" cy="1170432"/>
          </a:xfrm>
          <a:prstGeom prst="rect">
            <a:avLst/>
          </a:prstGeom>
          <a:solidFill>
            <a:srgbClr val="F8F8F6"/>
          </a:solidFill>
          <a:ln w="3810">
            <a:solidFill>
              <a:srgbClr val="E0E0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648456"/>
            <a:ext cx="54864" cy="1170432"/>
          </a:xfrm>
          <a:prstGeom prst="rect">
            <a:avLst/>
          </a:prstGeom>
          <a:solidFill>
            <a:srgbClr val="CC5555"/>
          </a:solidFill>
          <a:ln/>
        </p:spPr>
      </p:sp>
      <p:sp>
        <p:nvSpPr>
          <p:cNvPr id="30" name="Text 28"/>
          <p:cNvSpPr/>
          <p:nvPr/>
        </p:nvSpPr>
        <p:spPr>
          <a:xfrm>
            <a:off x="4882896" y="3739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5555"/>
                </a:solidFill>
              </a:rPr>
              <a:t>⑥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12080" y="373989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4"/>
                </a:solidFill>
              </a:rPr>
              <a:t>5방 사이클 — 45초/방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82896" y="408736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A3A3A"/>
                </a:solidFill>
              </a:rPr>
              <a:t>전투방→흔적방→전투방→Eclipse방→보스방. 3~5분 한 사이클. 모바일 숏폼에 최적화된 비트 단위.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비동기 코업 — AI Soul Ghost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혼자 플레이하지만, 상대 위상에 Ghost가 실제로 살아있다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14600" cy="2194560"/>
          </a:xfrm>
          <a:prstGeom prst="rect">
            <a:avLst/>
          </a:prstGeom>
          <a:solidFill>
            <a:srgbClr val="1A1A2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514600" cy="45720"/>
          </a:xfrm>
          <a:prstGeom prst="rect">
            <a:avLst/>
          </a:prstGeom>
          <a:solidFill>
            <a:srgbClr val="CC5555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188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발각 리스크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555"/>
                </a:solidFill>
              </a:rPr>
              <a:t>위치 발각 리스크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1874520"/>
            <a:ext cx="22860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938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해결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2148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CCCCC"/>
                </a:solidFill>
              </a:rPr>
              <a:t>30% 위치 노이즈 주입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CCCCC"/>
                </a:solidFill>
              </a:rPr>
              <a:t>(완벽하지 않은 흔적 배치)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514600" cy="2194560"/>
          </a:xfrm>
          <a:prstGeom prst="rect">
            <a:avLst/>
          </a:prstGeom>
          <a:solidFill>
            <a:srgbClr val="1A1A2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97280"/>
            <a:ext cx="2514600" cy="45720"/>
          </a:xfrm>
          <a:prstGeom prst="rect">
            <a:avLst/>
          </a:prstGeom>
          <a:solidFill>
            <a:srgbClr val="CC9944"/>
          </a:solidFill>
          <a:ln/>
        </p:spPr>
      </p:sp>
      <p:sp>
        <p:nvSpPr>
          <p:cNvPr id="13" name="Text 11"/>
          <p:cNvSpPr/>
          <p:nvPr/>
        </p:nvSpPr>
        <p:spPr>
          <a:xfrm>
            <a:off x="3401568" y="1188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발각 리스크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01568" y="14173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9944"/>
                </a:solidFill>
              </a:rPr>
              <a:t>밀도 발각 리스크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01568" y="1874520"/>
            <a:ext cx="22860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1938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해결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01568" y="2148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CCCCC"/>
                </a:solidFill>
              </a:rPr>
              <a:t>난이도별/구간별 밀도 편향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CCCCC"/>
                </a:solidFill>
              </a:rPr>
              <a:t>(인간의 자연스러운 실수)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2514600" cy="2194560"/>
          </a:xfrm>
          <a:prstGeom prst="rect">
            <a:avLst/>
          </a:prstGeom>
          <a:solidFill>
            <a:srgbClr val="1A1A2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97280"/>
            <a:ext cx="2514600" cy="45720"/>
          </a:xfrm>
          <a:prstGeom prst="rect">
            <a:avLst/>
          </a:prstGeom>
          <a:solidFill>
            <a:srgbClr val="6899C0"/>
          </a:solidFill>
          <a:ln/>
        </p:spPr>
      </p:sp>
      <p:sp>
        <p:nvSpPr>
          <p:cNvPr id="20" name="Text 18"/>
          <p:cNvSpPr/>
          <p:nvPr/>
        </p:nvSpPr>
        <p:spPr>
          <a:xfrm>
            <a:off x="6236208" y="1188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발각 리스크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36208" y="14173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99C0"/>
                </a:solidFill>
              </a:rPr>
              <a:t>반응 발각 리스크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36208" y="1874520"/>
            <a:ext cx="22860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1938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해결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36208" y="2148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CCCCC"/>
                </a:solidFill>
              </a:rPr>
              <a:t>0.3~1.8초 랜덤 딜레이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CCCCC"/>
                </a:solidFill>
              </a:rPr>
              <a:t>+ 10% 실수형 Emote 실행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1A150A"/>
          </a:solidFill>
          <a:ln w="6350">
            <a:solidFill>
              <a:srgbClr val="AA88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5844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880"/>
                </a:solidFill>
              </a:rPr>
              <a:t>Narrative Shield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38587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CAA60"/>
                </a:solidFill>
              </a:rPr>
              <a:t>만약 AI임이 발각되더라도 — "100년간 탑을 오른 영혼들의 기억이 만월에 형태를 얻는다"는 설정으로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CAA60"/>
                </a:solidFill>
              </a:rPr>
              <a:t>AI를 자연스러운 세계관 속 존재(Ghost)로 치환. 발각이 몰입 파괴가 아닌 세계관 심화가 된다.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리텐션 목표 &amp; 수익화 전략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74520" cy="1554480"/>
          </a:xfrm>
          <a:prstGeom prst="rect">
            <a:avLst/>
          </a:prstGeom>
          <a:solidFill>
            <a:srgbClr val="F8F8F6"/>
          </a:solidFill>
          <a:ln w="3810">
            <a:solidFill>
              <a:srgbClr val="E0E0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1874520" cy="45720"/>
          </a:xfrm>
          <a:prstGeom prst="rect">
            <a:avLst/>
          </a:prstGeom>
          <a:solidFill>
            <a:srgbClr val="6DB86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D1 Retention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0759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DB86D"/>
                </a:solidFill>
              </a:rPr>
              <a:t>45%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장르 평균 대비 +10%p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960120"/>
            <a:ext cx="1874520" cy="1554480"/>
          </a:xfrm>
          <a:prstGeom prst="rect">
            <a:avLst/>
          </a:prstGeom>
          <a:solidFill>
            <a:srgbClr val="F8F8F6"/>
          </a:solidFill>
          <a:ln w="3810">
            <a:solidFill>
              <a:srgbClr val="E0E0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960120"/>
            <a:ext cx="1874520" cy="45720"/>
          </a:xfrm>
          <a:prstGeom prst="rect">
            <a:avLst/>
          </a:prstGeom>
          <a:solidFill>
            <a:srgbClr val="6899C0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051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D7 Retention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51760" y="130759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899C0"/>
                </a:solidFill>
              </a:rPr>
              <a:t>22%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51760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장르 평균 대비 +7%p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1874520" cy="1554480"/>
          </a:xfrm>
          <a:prstGeom prst="rect">
            <a:avLst/>
          </a:prstGeom>
          <a:solidFill>
            <a:srgbClr val="F8F8F6"/>
          </a:solidFill>
          <a:ln w="3810">
            <a:solidFill>
              <a:srgbClr val="E0E0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60120"/>
            <a:ext cx="1874520" cy="45720"/>
          </a:xfrm>
          <a:prstGeom prst="rect">
            <a:avLst/>
          </a:prstGeom>
          <a:solidFill>
            <a:srgbClr val="CC9944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51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D30 Retention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130759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9944"/>
                </a:solidFill>
              </a:rPr>
              <a:t>10%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754880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비동기 코업 재방문 유도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66560" y="960120"/>
            <a:ext cx="1874520" cy="1554480"/>
          </a:xfrm>
          <a:prstGeom prst="rect">
            <a:avLst/>
          </a:prstGeom>
          <a:solidFill>
            <a:srgbClr val="F8F8F6"/>
          </a:solidFill>
          <a:ln w="3810">
            <a:solidFill>
              <a:srgbClr val="E0E0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960120"/>
            <a:ext cx="1874520" cy="45720"/>
          </a:xfrm>
          <a:prstGeom prst="rect">
            <a:avLst/>
          </a:prstGeom>
          <a:solidFill>
            <a:srgbClr val="9944C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1051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일 평균 세션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130759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44CC"/>
                </a:solidFill>
              </a:rPr>
              <a:t>3.2회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858000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12분 숏폼 루프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F14"/>
                </a:solidFill>
              </a:rPr>
              <a:t>수익화 구조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090672"/>
            <a:ext cx="4206240" cy="310896"/>
          </a:xfrm>
          <a:prstGeom prst="rect">
            <a:avLst/>
          </a:prstGeom>
          <a:solidFill>
            <a:srgbClr val="F8F8F6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090672"/>
            <a:ext cx="45720" cy="310896"/>
          </a:xfrm>
          <a:prstGeom prst="rect">
            <a:avLst/>
          </a:prstGeom>
          <a:solidFill>
            <a:srgbClr val="6DB86D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1272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</a:rPr>
              <a:t>그리움 패스 / 시즌패스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0" y="31272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DB86D"/>
                </a:solidFill>
              </a:rPr>
              <a:t>$9.9/월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56432"/>
            <a:ext cx="4206240" cy="310896"/>
          </a:xfrm>
          <a:prstGeom prst="rect">
            <a:avLst/>
          </a:prstGeom>
          <a:solidFill>
            <a:srgbClr val="EEEEEA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456432"/>
            <a:ext cx="45720" cy="310896"/>
          </a:xfrm>
          <a:prstGeom prst="rect">
            <a:avLst/>
          </a:prstGeom>
          <a:solidFill>
            <a:srgbClr val="6899C0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493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</a:rPr>
              <a:t>코스메틱 &amp; 스킨 (냥/뭉)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0" y="34930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899C0"/>
                </a:solidFill>
              </a:rPr>
              <a:t>$1.99~4.99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822192"/>
            <a:ext cx="4206240" cy="310896"/>
          </a:xfrm>
          <a:prstGeom prst="rect">
            <a:avLst/>
          </a:prstGeom>
          <a:solidFill>
            <a:srgbClr val="F8F8F6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3822192"/>
            <a:ext cx="45720" cy="310896"/>
          </a:xfrm>
          <a:prstGeom prst="rect">
            <a:avLst/>
          </a:prstGeom>
          <a:solidFill>
            <a:srgbClr val="CC9944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8587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</a:rPr>
              <a:t>목표 ARPU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0" y="38587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9944"/>
                </a:solidFill>
              </a:rPr>
              <a:t>$4.2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187952"/>
            <a:ext cx="4206240" cy="310896"/>
          </a:xfrm>
          <a:prstGeom prst="rect">
            <a:avLst/>
          </a:prstGeom>
          <a:solidFill>
            <a:srgbClr val="EEEEEA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4187952"/>
            <a:ext cx="45720" cy="310896"/>
          </a:xfrm>
          <a:prstGeom prst="rect">
            <a:avLst/>
          </a:prstGeom>
          <a:solidFill>
            <a:srgbClr val="9944CC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42245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</a:rPr>
              <a:t>목표 ARPPU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0" y="4224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944CC"/>
                </a:solidFill>
              </a:rPr>
              <a:t>$18.5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553712"/>
            <a:ext cx="4206240" cy="310896"/>
          </a:xfrm>
          <a:prstGeom prst="rect">
            <a:avLst/>
          </a:prstGeom>
          <a:solidFill>
            <a:srgbClr val="F8F8F6"/>
          </a:solidFill>
          <a:ln/>
        </p:spPr>
      </p:sp>
      <p:sp>
        <p:nvSpPr>
          <p:cNvPr id="41" name="Shape 39"/>
          <p:cNvSpPr/>
          <p:nvPr/>
        </p:nvSpPr>
        <p:spPr>
          <a:xfrm>
            <a:off x="457200" y="4553712"/>
            <a:ext cx="45720" cy="310896"/>
          </a:xfrm>
          <a:prstGeom prst="rect">
            <a:avLst/>
          </a:prstGeom>
          <a:solidFill>
            <a:srgbClr val="CC5555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45902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</a:rPr>
              <a:t>결제 전환율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57600" y="45902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5555"/>
                </a:solidFill>
              </a:rPr>
              <a:t>4.5%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0" y="2697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3A3A"/>
                </a:solidFill>
              </a:rPr>
              <a:t>BM 구조: 감성 기반 비강제 수익화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3A3A"/>
                </a:solidFill>
              </a:rPr>
              <a:t>(그리움 패스 + 시즌패스 + 코스메틱 스킨)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29200" y="35661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i="1" dirty="0">
                <a:solidFill>
                  <a:srgbClr val="888888"/>
                </a:solidFill>
              </a:rPr>
              <a:t>Eclipse 발동 순간 스크린샷 → SNS 공유 → 자연 UA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i="1" dirty="0">
                <a:solidFill>
                  <a:srgbClr val="888888"/>
                </a:solidFill>
              </a:rPr>
              <a:t>도트셰이더 비주얼이 공유 친화적 스크린샷 생성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18개월 프로덕션 로드맵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0" y="2011680"/>
            <a:ext cx="201168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1828800" cy="3657600"/>
          </a:xfrm>
          <a:prstGeom prst="rect">
            <a:avLst/>
          </a:prstGeom>
          <a:solidFill>
            <a:srgbClr val="F8F8F6"/>
          </a:solidFill>
          <a:ln w="3810">
            <a:solidFill>
              <a:srgbClr val="E0E0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1828800" cy="54864"/>
          </a:xfrm>
          <a:prstGeom prst="rect">
            <a:avLst/>
          </a:prstGeom>
          <a:solidFill>
            <a:srgbClr val="6DB86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6DB86D"/>
                </a:solidFill>
              </a:rPr>
              <a:t>Milestone 1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6DB86D"/>
                </a:solidFill>
              </a:rPr>
              <a:t>CBT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D+0~30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029968"/>
            <a:ext cx="1645920" cy="438912"/>
          </a:xfrm>
          <a:prstGeom prst="rect">
            <a:avLst/>
          </a:prstGeom>
          <a:solidFill>
            <a:srgbClr val="6DB86D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057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B86D"/>
                </a:solidFill>
              </a:rPr>
              <a:t>DAU 5,000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578608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A3A3A"/>
                </a:solidFill>
              </a:rPr>
              <a:t>· 커뮤니티 직접 모집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A3A3A"/>
                </a:solidFill>
              </a:rPr>
              <a:t>· 코어 루프 검증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70832" y="2011680"/>
            <a:ext cx="201168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96312" y="1005840"/>
            <a:ext cx="1828800" cy="3657600"/>
          </a:xfrm>
          <a:prstGeom prst="rect">
            <a:avLst/>
          </a:prstGeom>
          <a:solidFill>
            <a:srgbClr val="F8F8F6"/>
          </a:solidFill>
          <a:ln w="3810">
            <a:solidFill>
              <a:srgbClr val="E0E0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96312" y="1005840"/>
            <a:ext cx="1828800" cy="54864"/>
          </a:xfrm>
          <a:prstGeom prst="rect">
            <a:avLst/>
          </a:prstGeom>
          <a:solidFill>
            <a:srgbClr val="6899C0"/>
          </a:solidFill>
          <a:ln/>
        </p:spPr>
      </p:sp>
      <p:sp>
        <p:nvSpPr>
          <p:cNvPr id="14" name="Text 12"/>
          <p:cNvSpPr/>
          <p:nvPr/>
        </p:nvSpPr>
        <p:spPr>
          <a:xfrm>
            <a:off x="2587752" y="1097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6899C0"/>
                </a:solidFill>
              </a:rPr>
              <a:t>Milestone 2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6899C0"/>
                </a:solidFill>
              </a:rPr>
              <a:t>Soft Launch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87752" y="1664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D+30~90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87752" y="2029968"/>
            <a:ext cx="1645920" cy="438912"/>
          </a:xfrm>
          <a:prstGeom prst="rect">
            <a:avLst/>
          </a:prstGeom>
          <a:solidFill>
            <a:srgbClr val="6899C0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587752" y="2057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899C0"/>
                </a:solidFill>
              </a:rPr>
              <a:t>DAU 30,000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87752" y="2578608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A3A3A"/>
                </a:solidFill>
              </a:rPr>
              <a:t>· 틱톡 숏폼 마케팅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A3A3A"/>
                </a:solidFill>
              </a:rPr>
              <a:t>· 3챕터 30스테이지 9보스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55664" y="2011680"/>
            <a:ext cx="201168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81144" y="1005840"/>
            <a:ext cx="1828800" cy="3657600"/>
          </a:xfrm>
          <a:prstGeom prst="rect">
            <a:avLst/>
          </a:prstGeom>
          <a:solidFill>
            <a:srgbClr val="F8F8F6"/>
          </a:solidFill>
          <a:ln w="3810">
            <a:solidFill>
              <a:srgbClr val="E0E0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81144" y="1005840"/>
            <a:ext cx="1828800" cy="54864"/>
          </a:xfrm>
          <a:prstGeom prst="rect">
            <a:avLst/>
          </a:prstGeom>
          <a:solidFill>
            <a:srgbClr val="CC9944"/>
          </a:solidFill>
          <a:ln/>
        </p:spPr>
      </p:sp>
      <p:sp>
        <p:nvSpPr>
          <p:cNvPr id="22" name="Text 20"/>
          <p:cNvSpPr/>
          <p:nvPr/>
        </p:nvSpPr>
        <p:spPr>
          <a:xfrm>
            <a:off x="4672584" y="1097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C9944"/>
                </a:solidFill>
              </a:rPr>
              <a:t>Milestone 3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C9944"/>
                </a:solidFill>
              </a:rPr>
              <a:t>Global Launch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72584" y="1664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D+90~180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72584" y="2029968"/>
            <a:ext cx="1645920" cy="438912"/>
          </a:xfrm>
          <a:prstGeom prst="rect">
            <a:avLst/>
          </a:prstGeom>
          <a:solidFill>
            <a:srgbClr val="CC9944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672584" y="2057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9944"/>
                </a:solidFill>
              </a:rPr>
              <a:t>DAU 150,000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72584" y="2578608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A3A3A"/>
                </a:solidFill>
              </a:rPr>
              <a:t>· 대규모 UA 캠페인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A3A3A"/>
                </a:solidFill>
              </a:rPr>
              <a:t>· 스토어 피처링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65976" y="1005840"/>
            <a:ext cx="1828800" cy="3657600"/>
          </a:xfrm>
          <a:prstGeom prst="rect">
            <a:avLst/>
          </a:prstGeom>
          <a:solidFill>
            <a:srgbClr val="F8F8F6"/>
          </a:solidFill>
          <a:ln w="3810">
            <a:solidFill>
              <a:srgbClr val="E0E0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665976" y="1005840"/>
            <a:ext cx="1828800" cy="54864"/>
          </a:xfrm>
          <a:prstGeom prst="rect">
            <a:avLst/>
          </a:prstGeom>
          <a:solidFill>
            <a:srgbClr val="FFE880"/>
          </a:solidFill>
          <a:ln/>
        </p:spPr>
      </p:sp>
      <p:sp>
        <p:nvSpPr>
          <p:cNvPr id="29" name="Text 27"/>
          <p:cNvSpPr/>
          <p:nvPr/>
        </p:nvSpPr>
        <p:spPr>
          <a:xfrm>
            <a:off x="6757416" y="1097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E880"/>
                </a:solidFill>
              </a:rPr>
              <a:t>Milestone 4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E880"/>
                </a:solidFill>
              </a:rPr>
              <a:t>Stabilization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57416" y="1664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D+180+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57416" y="2029968"/>
            <a:ext cx="1645920" cy="438912"/>
          </a:xfrm>
          <a:prstGeom prst="rect">
            <a:avLst/>
          </a:prstGeom>
          <a:solidFill>
            <a:srgbClr val="FFE880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757416" y="2057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E880"/>
                </a:solidFill>
              </a:rPr>
              <a:t>DAU 300,000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57416" y="2578608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A3A3A"/>
                </a:solidFill>
              </a:rPr>
              <a:t>· 시즌 업데이트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A3A3A"/>
                </a:solidFill>
              </a:rPr>
              <a:t>· 리텐션 방어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0F14"/>
                </a:solidFill>
              </a:rPr>
              <a:t>MVP 우선순위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9194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B86D"/>
                </a:solidFill>
              </a:rPr>
              <a:t>①  방 단위 전투 루프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920240" y="49194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B86D"/>
                </a:solidFill>
              </a:rPr>
              <a:t>②  교대+자동사격 조작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83280" y="49194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B86D"/>
                </a:solidFill>
              </a:rPr>
              <a:t>③  공명 게이지+잔향 방출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9194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④  방 클리어 보상 12종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9360" y="49194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⑤  두 세계 색온도 전환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0" y="49194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⑥  3D 도트셰이더 렌더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57200"/>
            <a:ext cx="6400800" cy="4206240"/>
          </a:xfrm>
          <a:prstGeom prst="ellipse">
            <a:avLst/>
          </a:prstGeom>
          <a:solidFill>
            <a:srgbClr val="FFE880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1097280"/>
            <a:ext cx="3657600" cy="2743200"/>
          </a:xfrm>
          <a:prstGeom prst="ellipse">
            <a:avLst/>
          </a:prstGeom>
          <a:solidFill>
            <a:srgbClr val="FFE880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E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비극적 저주를 깨고 만나는 100초의 경이,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 찰나의 기적이 만들어낼 압도적 비즈니스 성과.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AAAA"/>
                </a:solidFill>
              </a:rPr>
              <a:t>타협 없는 예술성 위에 설계된 가장 정교한 감성 액션 로그라이트.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3017520"/>
            <a:ext cx="2743200" cy="0"/>
          </a:xfrm>
          <a:prstGeom prst="line">
            <a:avLst/>
          </a:prstGeom>
          <a:noFill/>
          <a:ln w="6350">
            <a:solidFill>
              <a:srgbClr val="FFE880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66666"/>
                </a:solidFill>
              </a:rPr>
              <a:t>contact@eclipse-studio.com  ·  Eclipse Studio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백년의 월광: 꼬리가 닿는 거리</dc:title>
  <dc:subject>PptxGenJS Presentation</dc:subject>
  <dc:creator>PptxGenJS</dc:creator>
  <cp:lastModifiedBy>PptxGenJS</cp:lastModifiedBy>
  <cp:revision>1</cp:revision>
  <dcterms:created xsi:type="dcterms:W3CDTF">2026-05-01T02:00:50Z</dcterms:created>
  <dcterms:modified xsi:type="dcterms:W3CDTF">2026-05-01T02:00:50Z</dcterms:modified>
</cp:coreProperties>
</file>