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926080"/>
            <a:ext cx="9144000" cy="2194560"/>
          </a:xfrm>
          <a:prstGeom prst="rect">
            <a:avLst/>
          </a:prstGeom>
          <a:solidFill>
            <a:srgbClr val="0D0E1A">
              <a:alpha val="80000"/>
            </a:srgbClr>
          </a:solidFill>
          <a:ln w="12700">
            <a:solidFill>
              <a:srgbClr val="0D0E1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971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EE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백년의 월광: 꼬리가 닿는 거리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B5F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 of the Eclipse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3"/>
                </a:solidFill>
              </a:rPr>
              <a:t>공명 액션 로그라이트  ·  모바일  ·  1인 개발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0292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D0E1A">
              <a:alpha val="80000"/>
            </a:srgbClr>
          </a:solidFill>
          <a:ln w="12700">
            <a:solidFill>
              <a:srgbClr val="0D0E1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212080" y="365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EE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 게임은 무엇인가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212080" y="868680"/>
            <a:ext cx="457200" cy="36576"/>
          </a:xfrm>
          <a:prstGeom prst="rect">
            <a:avLst/>
          </a:prstGeom>
          <a:solidFill>
            <a:srgbClr val="7B5FD4"/>
          </a:solidFill>
          <a:ln w="12700">
            <a:solidFill>
              <a:srgbClr val="7B5F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12080" y="1005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7B5F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그리움이 전투 동선이 되는 게임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12080" y="150876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8C4E0"/>
                </a:solidFill>
              </a:rPr>
              <a:t>냥(검은 고양이)과 뭉(하얀 강아지)은 같은 공간, 다른 위상에 갇힌 존재다.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8C4E0"/>
                </a:solidFill>
              </a:rPr>
              <a:t>오직 월식의 순간에만 같은 세계로 겹친다.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8C4E0"/>
                </a:solidFill>
              </a:rPr>
              <a:t>플레이어는 둘을 교대하며 서로의 흔적을 밟고,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8C4E0"/>
                </a:solidFill>
              </a:rPr>
              <a:t>공명 게이지를 채워 Eclipse — 재회의 순간 — 을 터뜨린다.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212080" y="3520440"/>
            <a:ext cx="3749040" cy="329184"/>
          </a:xfrm>
          <a:prstGeom prst="rect">
            <a:avLst/>
          </a:prstGeom>
          <a:solidFill>
            <a:srgbClr val="141628"/>
          </a:solidFill>
          <a:ln w="6350">
            <a:solidFill>
              <a:srgbClr val="7B5F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85232" y="35570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6B3"/>
                </a:solidFill>
              </a:rPr>
              <a:t>장르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09360" y="35570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EF8"/>
                </a:solidFill>
              </a:rPr>
              <a:t>공명 액션 로그라이트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212080" y="3904488"/>
            <a:ext cx="3749040" cy="329184"/>
          </a:xfrm>
          <a:prstGeom prst="rect">
            <a:avLst/>
          </a:prstGeom>
          <a:solidFill>
            <a:srgbClr val="141628"/>
          </a:solidFill>
          <a:ln w="6350">
            <a:solidFill>
              <a:srgbClr val="7B5F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85232" y="39410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6B3"/>
                </a:solidFill>
              </a:rPr>
              <a:t>플랫폼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09360" y="39410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EF8"/>
                </a:solidFill>
              </a:rPr>
              <a:t>iOS / Android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212080" y="4288536"/>
            <a:ext cx="3749040" cy="329184"/>
          </a:xfrm>
          <a:prstGeom prst="rect">
            <a:avLst/>
          </a:prstGeom>
          <a:solidFill>
            <a:srgbClr val="141628"/>
          </a:solidFill>
          <a:ln w="6350">
            <a:solidFill>
              <a:srgbClr val="7B5F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85232" y="4325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6B3"/>
                </a:solidFill>
              </a:rPr>
              <a:t>엔진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309360" y="4325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EF8"/>
                </a:solidFill>
              </a:rPr>
              <a:t>Unity 2D + URP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212080" y="4672584"/>
            <a:ext cx="3749040" cy="329184"/>
          </a:xfrm>
          <a:prstGeom prst="rect">
            <a:avLst/>
          </a:prstGeom>
          <a:solidFill>
            <a:srgbClr val="141628"/>
          </a:solidFill>
          <a:ln w="6350">
            <a:solidFill>
              <a:srgbClr val="7B5F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85232" y="4709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6B3"/>
                </a:solidFill>
              </a:rPr>
              <a:t>팀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309360" y="4709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EF8"/>
                </a:solidFill>
              </a:rPr>
              <a:t>1인 개발 (AI 파이프라인)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E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어떤 레퍼런스로 만들었나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7B5FD4">
              <a:alpha val="60000"/>
            </a:srgbClr>
          </a:solidFill>
          <a:ln w="12700">
            <a:solidFill>
              <a:srgbClr val="7B5F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743200" cy="3840480"/>
          </a:xfrm>
          <a:prstGeom prst="rect">
            <a:avLst/>
          </a:prstGeom>
          <a:solidFill>
            <a:srgbClr val="141628"/>
          </a:solidFill>
          <a:ln w="12700">
            <a:solidFill>
              <a:srgbClr val="1AAF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2743200" cy="320040"/>
          </a:xfrm>
          <a:prstGeom prst="rect">
            <a:avLst/>
          </a:prstGeom>
          <a:solidFill>
            <a:srgbClr val="1AAFA0"/>
          </a:solidFill>
          <a:ln w="12700">
            <a:solidFill>
              <a:srgbClr val="1AA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87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E1A"/>
                </a:solidFill>
              </a:rPr>
              <a:t>조작 구조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E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Archero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AFA0"/>
                </a:solidFill>
              </a:rPr>
              <a:t>이동/정지 자동 공격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8C4E0"/>
                </a:solidFill>
              </a:rPr>
              <a:t>멈추면 공격, 움직이면 회피.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8C4E0"/>
                </a:solidFill>
              </a:rPr>
              <a:t>단순 조작에 계속 판단이 생기는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8C4E0"/>
                </a:solidFill>
              </a:rPr>
              <a:t>모바일 로그라이트의 기본 문법.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960120"/>
            <a:ext cx="2743200" cy="3840480"/>
          </a:xfrm>
          <a:prstGeom prst="rect">
            <a:avLst/>
          </a:prstGeom>
          <a:solidFill>
            <a:srgbClr val="141628"/>
          </a:solidFill>
          <a:ln w="12700">
            <a:solidFill>
              <a:srgbClr val="7B5F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5848" y="960120"/>
            <a:ext cx="2743200" cy="320040"/>
          </a:xfrm>
          <a:prstGeom prst="rect">
            <a:avLst/>
          </a:prstGeom>
          <a:solidFill>
            <a:srgbClr val="7B5FD4"/>
          </a:solidFill>
          <a:ln w="12700">
            <a:solidFill>
              <a:srgbClr val="7B5F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987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E1A"/>
                </a:solidFill>
              </a:rPr>
              <a:t>비주얼 방향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93008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E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Octopath Traveler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93008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5FD4"/>
                </a:solidFill>
              </a:rPr>
              <a:t>HD-2D 비주얼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93008" y="21488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8C4E0"/>
                </a:solidFill>
              </a:rPr>
              <a:t>도트 캐릭터 × 고품질 배경.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8C4E0"/>
                </a:solidFill>
              </a:rPr>
              <a:t>작은 캐릭터가 큰 무대를 걷는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8C4E0"/>
                </a:solidFill>
              </a:rPr>
              <a:t>감성적 원근감을 차용.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54496" y="960120"/>
            <a:ext cx="2743200" cy="3840480"/>
          </a:xfrm>
          <a:prstGeom prst="rect">
            <a:avLst/>
          </a:prstGeom>
          <a:solidFill>
            <a:srgbClr val="141628"/>
          </a:solidFill>
          <a:ln w="12700">
            <a:solidFill>
              <a:srgbClr val="D492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960120"/>
            <a:ext cx="2743200" cy="320040"/>
          </a:xfrm>
          <a:prstGeom prst="rect">
            <a:avLst/>
          </a:prstGeom>
          <a:solidFill>
            <a:srgbClr val="D4922A"/>
          </a:solidFill>
          <a:ln w="12700">
            <a:solidFill>
              <a:srgbClr val="D492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987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E1A"/>
                </a:solidFill>
              </a:rPr>
              <a:t>메타 구조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91656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E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91656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922A"/>
                </a:solidFill>
              </a:rPr>
              <a:t>죽어도 남는 성장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91656" y="21488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8C4E0"/>
                </a:solidFill>
              </a:rPr>
              <a:t>사망이 실패가 아니라 기억.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8C4E0"/>
                </a:solidFill>
              </a:rPr>
              <a:t>흉터 시스템으로 런마다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8C4E0"/>
                </a:solidFill>
              </a:rPr>
              <a:t>다른 이야기가 쌓인다.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8229600" cy="329184"/>
          </a:xfrm>
          <a:prstGeom prst="rect">
            <a:avLst/>
          </a:prstGeom>
          <a:solidFill>
            <a:srgbClr val="141628"/>
          </a:solidFill>
          <a:ln w="6350">
            <a:solidFill>
              <a:srgbClr val="8896B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70001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EF8"/>
                </a:solidFill>
              </a:rPr>
              <a:t>→  이 세 게임의 교점: 단순한 조작, 감성적 세계관, 실패도 성장이 되는 루프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E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 게임만의 재미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57200" y="777240"/>
            <a:ext cx="4663440" cy="27432"/>
          </a:xfrm>
          <a:prstGeom prst="rect">
            <a:avLst/>
          </a:prstGeom>
          <a:solidFill>
            <a:srgbClr val="D85A30">
              <a:alpha val="60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960120"/>
            <a:ext cx="4663440" cy="868680"/>
          </a:xfrm>
          <a:prstGeom prst="rect">
            <a:avLst/>
          </a:prstGeom>
          <a:solidFill>
            <a:srgbClr val="141628"/>
          </a:solidFill>
          <a:ln w="10160">
            <a:solidFill>
              <a:srgbClr val="D85A3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960120"/>
            <a:ext cx="73152" cy="8686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" y="9966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5A30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" y="10058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EF8"/>
                </a:solidFill>
              </a:rPr>
              <a:t>위험한 흔적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1792" y="134416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C4E0"/>
                </a:solidFill>
              </a:rPr>
              <a:t>파트너 흔적이 적 위에 있다. 밟으면 공명이 찬다.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C4E0"/>
                </a:solidFill>
              </a:rPr>
              <a:t>욕심 vs 생존 — 이 판단이 45초마다 3~5번.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4663440" cy="868680"/>
          </a:xfrm>
          <a:prstGeom prst="rect">
            <a:avLst/>
          </a:prstGeom>
          <a:solidFill>
            <a:srgbClr val="141628"/>
          </a:solidFill>
          <a:ln w="10160">
            <a:solidFill>
              <a:srgbClr val="1AAFA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965960"/>
            <a:ext cx="73152" cy="868680"/>
          </a:xfrm>
          <a:prstGeom prst="rect">
            <a:avLst/>
          </a:prstGeom>
          <a:solidFill>
            <a:srgbClr val="1AAFA0"/>
          </a:solidFill>
          <a:ln w="12700">
            <a:solidFill>
              <a:srgbClr val="1AAF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20025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AFA0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" y="2011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EF8"/>
                </a:solidFill>
              </a:rPr>
              <a:t>교대가 강제되는 위상 면역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1792" y="23500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C4E0"/>
                </a:solidFill>
              </a:rPr>
              <a:t>파란 적은 냥만, 금빛 적은 뭉만 파훼.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C4E0"/>
                </a:solidFill>
              </a:rPr>
              <a:t>UI 설명 없이 색으로만 읽힌다.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2971800"/>
            <a:ext cx="4663440" cy="868680"/>
          </a:xfrm>
          <a:prstGeom prst="rect">
            <a:avLst/>
          </a:prstGeom>
          <a:solidFill>
            <a:srgbClr val="141628"/>
          </a:solidFill>
          <a:ln w="10160">
            <a:solidFill>
              <a:srgbClr val="7B5FD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971800"/>
            <a:ext cx="73152" cy="868680"/>
          </a:xfrm>
          <a:prstGeom prst="rect">
            <a:avLst/>
          </a:prstGeom>
          <a:solidFill>
            <a:srgbClr val="7B5FD4"/>
          </a:solidFill>
          <a:ln w="12700">
            <a:solidFill>
              <a:srgbClr val="7B5F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" y="30083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5FD4"/>
                </a:solidFill>
              </a:rPr>
              <a:t>03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1792" y="30175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EF8"/>
                </a:solidFill>
              </a:rPr>
              <a:t>Eclipse — 전투 보상 + 감정 보상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1792" y="33558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C4E0"/>
                </a:solidFill>
              </a:rPr>
              <a:t>게이지 100%에서 화면이 풀컬러로 폭발.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C4E0"/>
                </a:solidFill>
              </a:rPr>
              <a:t>'드디어 만났다'는 감정이 클라이맥스와 겹친다.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3977640"/>
            <a:ext cx="4663440" cy="868680"/>
          </a:xfrm>
          <a:prstGeom prst="rect">
            <a:avLst/>
          </a:prstGeom>
          <a:solidFill>
            <a:srgbClr val="141628"/>
          </a:solidFill>
          <a:ln w="10160">
            <a:solidFill>
              <a:srgbClr val="D4922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3977640"/>
            <a:ext cx="73152" cy="868680"/>
          </a:xfrm>
          <a:prstGeom prst="rect">
            <a:avLst/>
          </a:prstGeom>
          <a:solidFill>
            <a:srgbClr val="D4922A"/>
          </a:solidFill>
          <a:ln w="12700">
            <a:solidFill>
              <a:srgbClr val="D492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" y="40142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922A"/>
                </a:solidFill>
              </a:rPr>
              <a:t>04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21792" y="40233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EF8"/>
                </a:solidFill>
              </a:rPr>
              <a:t>색 = 사랑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21792" y="43616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C4E0"/>
                </a:solidFill>
              </a:rPr>
              <a:t>냥 위상은 차가운 청회색, 뭉 위상은 황금색.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C4E0"/>
                </a:solidFill>
              </a:rPr>
              <a:t>Eclipse 순간만 풀컬러 — 색이 게임 상태이자 감정 보상.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E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어떻게 돈을 버는가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D4922A">
              <a:alpha val="60000"/>
            </a:srgbClr>
          </a:solidFill>
          <a:ln w="12700">
            <a:solidFill>
              <a:srgbClr val="D4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922A"/>
                </a:solidFill>
              </a:rPr>
              <a:t>핵심 원칙: 플레이로 성장하고, 과금으로 둘만의 기억을 꾸민다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3520440"/>
          </a:xfrm>
          <a:prstGeom prst="rect">
            <a:avLst/>
          </a:prstGeom>
          <a:solidFill>
            <a:srgbClr val="141628"/>
          </a:solidFill>
          <a:ln w="12700">
            <a:solidFill>
              <a:srgbClr val="7B5F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743200" cy="502920"/>
          </a:xfrm>
          <a:prstGeom prst="rect">
            <a:avLst/>
          </a:prstGeom>
          <a:solidFill>
            <a:srgbClr val="7B5FD4"/>
          </a:solidFill>
          <a:ln w="12700">
            <a:solidFill>
              <a:srgbClr val="7B5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26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E1A"/>
                </a:solidFill>
              </a:rPr>
              <a:t>★  코스메틱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0E1A"/>
                </a:solidFill>
              </a:rPr>
              <a:t>핵심 수익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5FD4"/>
                </a:solidFill>
              </a:rPr>
              <a:t>감성 소유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C8C4E0"/>
                </a:solidFill>
              </a:rPr>
              <a:t>냥/뭉 스킨 · 장신구</a:t>
            </a:r>
            <a:endParaRPr lang="en-US" sz="9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C8C4E0"/>
                </a:solidFill>
              </a:rPr>
              <a:t>흔적 FX (벚꽃, 눈 결정...)</a:t>
            </a:r>
            <a:endParaRPr lang="en-US" sz="9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C8C4E0"/>
                </a:solidFill>
              </a:rPr>
              <a:t>Ghost 외형 · Eclipse 연출</a:t>
            </a:r>
            <a:endParaRPr lang="en-US" sz="9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C8C4E0"/>
                </a:solidFill>
              </a:rPr>
              <a:t>페어 스킨 세트 (단가 ↑)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55848" y="1371600"/>
            <a:ext cx="2743200" cy="3520440"/>
          </a:xfrm>
          <a:prstGeom prst="rect">
            <a:avLst/>
          </a:prstGeom>
          <a:solidFill>
            <a:srgbClr val="141628"/>
          </a:solidFill>
          <a:ln w="12700">
            <a:solidFill>
              <a:srgbClr val="1AAF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1371600"/>
            <a:ext cx="2743200" cy="502920"/>
          </a:xfrm>
          <a:prstGeom prst="rect">
            <a:avLst/>
          </a:prstGeom>
          <a:solidFill>
            <a:srgbClr val="1AAFA0"/>
          </a:solidFill>
          <a:ln w="12700">
            <a:solidFill>
              <a:srgbClr val="1AAF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426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E1A"/>
                </a:solidFill>
              </a:rPr>
              <a:t>◈  시즌 패스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47288" y="16916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0E1A"/>
                </a:solidFill>
              </a:rPr>
              <a:t>장기 운영축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93008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AFA0"/>
                </a:solidFill>
              </a:rPr>
              <a:t>달의 주기 테마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93008" y="228600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C8C4E0"/>
                </a:solidFill>
              </a:rPr>
              <a:t>무료 트랙: 재화·기본 스킨</a:t>
            </a:r>
            <a:endParaRPr lang="en-US" sz="9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C8C4E0"/>
                </a:solidFill>
              </a:rPr>
              <a:t>유료 트랙: 한정 FX·연출</a:t>
            </a:r>
            <a:endParaRPr lang="en-US" sz="9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C8C4E0"/>
                </a:solidFill>
              </a:rPr>
              <a:t>최종 보상: 냥뭉 페어 스킨</a:t>
            </a:r>
            <a:endParaRPr lang="en-US" sz="9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C8C4E0"/>
                </a:solidFill>
              </a:rPr>
              <a:t>시즌 1 → 첫 월식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54496" y="1371600"/>
            <a:ext cx="2743200" cy="3520440"/>
          </a:xfrm>
          <a:prstGeom prst="rect">
            <a:avLst/>
          </a:prstGeom>
          <a:solidFill>
            <a:srgbClr val="141628"/>
          </a:solidFill>
          <a:ln w="12700">
            <a:solidFill>
              <a:srgbClr val="D492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371600"/>
            <a:ext cx="2743200" cy="502920"/>
          </a:xfrm>
          <a:prstGeom prst="rect">
            <a:avLst/>
          </a:prstGeom>
          <a:solidFill>
            <a:srgbClr val="D4922A"/>
          </a:solidFill>
          <a:ln w="12700">
            <a:solidFill>
              <a:srgbClr val="D492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5936" y="1426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E1A"/>
                </a:solidFill>
              </a:rPr>
              <a:t>▷  광고 보상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45936" y="16916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0E1A"/>
                </a:solidFill>
              </a:rPr>
              <a:t>초기 수익화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91656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922A"/>
                </a:solidFill>
              </a:rPr>
              <a:t>런 사이에만 노출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91656" y="228600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C8C4E0"/>
                </a:solidFill>
              </a:rPr>
              <a:t>사망 후 1회 부활</a:t>
            </a:r>
            <a:endParaRPr lang="en-US" sz="9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C8C4E0"/>
                </a:solidFill>
              </a:rPr>
              <a:t>보상 카드 리롤</a:t>
            </a:r>
            <a:endParaRPr lang="en-US" sz="9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C8C4E0"/>
                </a:solidFill>
              </a:rPr>
              <a:t>클리어 보상 2배</a:t>
            </a:r>
            <a:endParaRPr lang="en-US" sz="9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C8C4E0"/>
                </a:solidFill>
              </a:rPr>
              <a:t>전투 중 · 공명 중 광고 금지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8229600" cy="329184"/>
          </a:xfrm>
          <a:prstGeom prst="rect">
            <a:avLst/>
          </a:prstGeom>
          <a:solidFill>
            <a:srgbClr val="2A1A0A"/>
          </a:solidFill>
          <a:ln w="6350">
            <a:solidFill>
              <a:srgbClr val="D492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70001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922A"/>
                </a:solidFill>
              </a:rPr>
              <a:t>❌  공격력 직접 판매 · Eclipse 게이지 구매 · 보스 클리어권 — 감성 훼손으로 지양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E1A">
              <a:alpha val="60000"/>
            </a:srgbClr>
          </a:solidFill>
          <a:ln w="12700">
            <a:solidFill>
              <a:srgbClr val="0D0E1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EE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다음 단계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1463040" cy="1463040"/>
          </a:xfrm>
          <a:prstGeom prst="rect">
            <a:avLst/>
          </a:prstGeom>
          <a:solidFill>
            <a:srgbClr val="141628"/>
          </a:solidFill>
          <a:ln w="10160">
            <a:solidFill>
              <a:srgbClr val="7B5F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143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5F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30352" y="155448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0EEF8"/>
                </a:solidFill>
              </a:rPr>
              <a:t>이동 + 자동 공격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20848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B3"/>
                </a:solidFill>
              </a:rPr>
              <a:t>살면 움직임, 때리려면 멈춤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121408" y="1097280"/>
            <a:ext cx="1463040" cy="1463040"/>
          </a:xfrm>
          <a:prstGeom prst="rect">
            <a:avLst/>
          </a:prstGeom>
          <a:solidFill>
            <a:srgbClr val="141628"/>
          </a:solidFill>
          <a:ln w="10160">
            <a:solidFill>
              <a:srgbClr val="7B5F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21408" y="1143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5F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194560" y="155448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0EEF8"/>
                </a:solidFill>
              </a:rPr>
              <a:t>냥/뭉 교대 + 팔레트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167128" y="20848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B3"/>
                </a:solidFill>
              </a:rPr>
              <a:t>색만으로 위상 전환 확인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785616" y="1097280"/>
            <a:ext cx="1463040" cy="1463040"/>
          </a:xfrm>
          <a:prstGeom prst="rect">
            <a:avLst/>
          </a:prstGeom>
          <a:solidFill>
            <a:srgbClr val="141628"/>
          </a:solidFill>
          <a:ln w="10160">
            <a:solidFill>
              <a:srgbClr val="7B5F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85616" y="1143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5F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858768" y="155448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0EEF8"/>
                </a:solidFill>
              </a:rPr>
              <a:t>흔적 생성 + 회수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31336" y="20848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B3"/>
                </a:solidFill>
              </a:rPr>
              <a:t>위험한 발자국이 목표가 되는지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449824" y="1097280"/>
            <a:ext cx="1463040" cy="1463040"/>
          </a:xfrm>
          <a:prstGeom prst="rect">
            <a:avLst/>
          </a:prstGeom>
          <a:solidFill>
            <a:srgbClr val="141628"/>
          </a:solidFill>
          <a:ln w="10160">
            <a:solidFill>
              <a:srgbClr val="7B5F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49824" y="1143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5F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522976" y="155448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0EEF8"/>
                </a:solidFill>
              </a:rPr>
              <a:t>공명 게이지 + Eclipse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95544" y="20848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B3"/>
                </a:solidFill>
              </a:rPr>
              <a:t>풀컬러 폭발 보상감 검증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114032" y="1097280"/>
            <a:ext cx="1463040" cy="1463040"/>
          </a:xfrm>
          <a:prstGeom prst="rect">
            <a:avLst/>
          </a:prstGeom>
          <a:solidFill>
            <a:srgbClr val="141628"/>
          </a:solidFill>
          <a:ln w="10160">
            <a:solidFill>
              <a:srgbClr val="7B5FD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14032" y="1143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5F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187184" y="155448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0EEF8"/>
                </a:solidFill>
              </a:rPr>
              <a:t>45초 방 반복 테스트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159752" y="20848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B3"/>
                </a:solidFill>
              </a:rPr>
              <a:t>이 루프가 반복할 만한지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2834640"/>
            <a:ext cx="8229600" cy="1280160"/>
          </a:xfrm>
          <a:prstGeom prst="rect">
            <a:avLst/>
          </a:prstGeom>
          <a:solidFill>
            <a:srgbClr val="141628"/>
          </a:solidFill>
          <a:ln w="10160">
            <a:solidFill>
              <a:srgbClr val="1AAF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29077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AFA0"/>
                </a:solidFill>
              </a:rPr>
              <a:t>핵심 검증 질문 — 방 1개로 먼저 증명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0080" y="321868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C8C4E0"/>
                </a:solidFill>
              </a:rPr>
              <a:t>"저 흔적을 밟으러 가야겠다" — 플레이어가 자발적으로 판단하는가?</a:t>
            </a:r>
            <a:endParaRPr lang="en-US" sz="9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C8C4E0"/>
                </a:solidFill>
              </a:rPr>
              <a:t>"지금 뭉으로 안 바꾸면 못 깬다" — 교대가 귀찮음이 아니라 전략인가?</a:t>
            </a:r>
            <a:endParaRPr lang="en-US" sz="9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C8C4E0"/>
                </a:solidFill>
              </a:rPr>
              <a:t>"Eclipse를 지금 쓸까, 아낄까" — 타이밍 고민이 생기는가?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B5F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그리움이 전투 동선이 되는 순간 — 이 게임은 살아난다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백년의 월광: 꼬리가 닿는 거리 — 제안서</dc:title>
  <dc:subject>PptxGenJS Presentation</dc:subject>
  <dc:creator>PptxGenJS</dc:creator>
  <cp:lastModifiedBy>PptxGenJS</cp:lastModifiedBy>
  <cp:revision>1</cp:revision>
  <dcterms:created xsi:type="dcterms:W3CDTF">2026-05-03T14:09:09Z</dcterms:created>
  <dcterms:modified xsi:type="dcterms:W3CDTF">2026-05-03T14:09:09Z</dcterms:modified>
</cp:coreProperties>
</file>