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보수적 (Base)</c:v>
                </c:pt>
              </c:strCache>
            </c:strRef>
          </c:tx>
          <c:spPr>
            <a:solidFill>
              <a:srgbClr val="B89AE8"/>
            </a:solidFill>
            <a:ln w="25400" cap="flat">
              <a:solidFill>
                <a:srgbClr val="B89A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9AE8"/>
              </a:solidFill>
              <a:ln w="9525" cap="flat">
                <a:solidFill>
                  <a:srgbClr val="B89A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  <c:pt idx="7">
                    <c:v>M21</c:v>
                  </c:pt>
                  <c:pt idx="8">
                    <c:v>M24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12</c:v>
                </c:pt>
                <c:pt idx="2">
                  <c:v>35</c:v>
                </c:pt>
                <c:pt idx="3">
                  <c:v>70</c:v>
                </c:pt>
                <c:pt idx="4">
                  <c:v>110</c:v>
                </c:pt>
                <c:pt idx="5">
                  <c:v>150</c:v>
                </c:pt>
                <c:pt idx="6">
                  <c:v>185</c:v>
                </c:pt>
                <c:pt idx="7">
                  <c:v>220</c:v>
                </c:pt>
                <c:pt idx="8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낙관적 (Upside)</c:v>
                </c:pt>
              </c:strCache>
            </c:strRef>
          </c:tx>
          <c:spPr>
            <a:solidFill>
              <a:srgbClr val="E8C890"/>
            </a:solidFill>
            <a:ln w="25400" cap="flat">
              <a:solidFill>
                <a:srgbClr val="E8C8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C890"/>
              </a:solidFill>
              <a:ln w="9525" cap="flat">
                <a:solidFill>
                  <a:srgbClr val="E8C8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  <c:pt idx="7">
                    <c:v>M21</c:v>
                  </c:pt>
                  <c:pt idx="8">
                    <c:v>M24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22</c:v>
                </c:pt>
                <c:pt idx="2">
                  <c:v>60</c:v>
                </c:pt>
                <c:pt idx="3">
                  <c:v>120</c:v>
                </c:pt>
                <c:pt idx="4">
                  <c:v>200</c:v>
                </c:pt>
                <c:pt idx="5">
                  <c:v>290</c:v>
                </c:pt>
                <c:pt idx="6">
                  <c:v>380</c:v>
                </c:pt>
                <c:pt idx="7">
                  <c:v>470</c:v>
                </c:pt>
                <c:pt idx="8">
                  <c:v>580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BEP ($45K)</c:v>
                </c:pt>
              </c:strCache>
            </c:strRef>
          </c:tx>
          <c:spPr>
            <a:solidFill>
              <a:srgbClr val="FF7A8E"/>
            </a:solidFill>
            <a:ln w="25400" cap="flat">
              <a:solidFill>
                <a:srgbClr val="FF7A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A8E"/>
              </a:solidFill>
              <a:ln w="9525" cap="flat">
                <a:solidFill>
                  <a:srgbClr val="FF7A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  <c:pt idx="7">
                    <c:v>M21</c:v>
                  </c:pt>
                  <c:pt idx="8">
                    <c:v>M24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  <c:pt idx="8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v_mee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1371600" cy="6858000"/>
          </a:xfrm>
          <a:prstGeom prst="rect">
            <a:avLst/>
          </a:prstGeom>
          <a:solidFill>
            <a:srgbClr val="0B0E1A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67512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경영진 보고용 제안서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75120" y="1371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백년의 월광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67512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C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꼬리가 닿는 거리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675120" y="3200400"/>
            <a:ext cx="731520" cy="36576"/>
          </a:xfrm>
          <a:prstGeom prst="rect">
            <a:avLst/>
          </a:prstGeom>
          <a:solidFill>
            <a:srgbClr val="B89AE8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공명 액션 로그라이트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7512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스프라이트 × 2.5D · 모바일 우선 · 1인 개발 12개월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0" y="4572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780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게임인가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7512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780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레퍼런스의 진화인가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75120" y="5486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7804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매출을 만드는가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75120" y="6217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Studio  ·  2026.05  ·  Ver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장으로 보는 제안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"같은 하늘 아래, 다른 세계에서 — 닿을 듯 닿지 않는 두 존재의 100일"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337560" cy="365760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54864" cy="365760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C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어떤 게임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457200" cy="18288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교대 플레이 로그라이트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냥(달의 위상) ↔ 뭉(태양의 위상)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공명 100% → Eclipse 발동, ×2.5 폭발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 5분 / 도트 2.5D / 완전 오프라인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2468880"/>
            <a:ext cx="3337560" cy="365760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2468880"/>
            <a:ext cx="54864" cy="3657600"/>
          </a:xfrm>
          <a:prstGeom prst="rect">
            <a:avLst/>
          </a:prstGeom>
          <a:solidFill>
            <a:srgbClr val="B89AE8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레퍼런스 진화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3520440"/>
            <a:ext cx="457200" cy="18288"/>
          </a:xfrm>
          <a:prstGeom prst="rect">
            <a:avLst/>
          </a:prstGeom>
          <a:solidFill>
            <a:srgbClr val="B89AE8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57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Hades의 서사 + Archero의 모바일성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원신의 감성 + 데드셀의 메타진행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Stranding의 비동기 코옵 정신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공백: 비동기 × 감성 × 모바일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2468880"/>
            <a:ext cx="3337560" cy="365760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468880"/>
            <a:ext cx="54864" cy="3657600"/>
          </a:xfrm>
          <a:prstGeom prst="rect">
            <a:avLst/>
          </a:prstGeom>
          <a:solidFill>
            <a:srgbClr val="F4D793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D7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953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BM &amp; 매출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5360" y="3520440"/>
            <a:ext cx="457200" cy="18288"/>
          </a:xfrm>
          <a:prstGeom prst="rect">
            <a:avLst/>
          </a:prstGeom>
          <a:solidFill>
            <a:srgbClr val="F4D793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3657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그리움 패스 시즌제 ($4.99/월)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코스메틱 스킨/장신구 ($1.99~5.99)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스크린샷 → 자연 UA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BEP, $250K 누적 매출 목표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01 ·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어떤 게임인가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C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장소, 같은 시간,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그러나 서로는 보이지 않는 두 세계.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월식의 순간에만 — 색이 돌아온다.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2606040" cy="1554480"/>
          </a:xfrm>
          <a:prstGeom prst="rect">
            <a:avLst/>
          </a:prstGeom>
          <a:solidFill>
            <a:srgbClr val="151827"/>
          </a:solidFill>
          <a:ln w="12700">
            <a:solidFill>
              <a:srgbClr val="2A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플레이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Tab으로 냥↔뭉 교대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4434840"/>
            <a:ext cx="2606040" cy="1554480"/>
          </a:xfrm>
          <a:prstGeom prst="rect">
            <a:avLst/>
          </a:prstGeom>
          <a:solidFill>
            <a:srgbClr val="151827"/>
          </a:solidFill>
          <a:ln w="12700">
            <a:solidFill>
              <a:srgbClr val="2A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공명 게이지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1188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흔적 위에서 충전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434840"/>
            <a:ext cx="2606040" cy="1554480"/>
          </a:xfrm>
          <a:prstGeom prst="rect">
            <a:avLst/>
          </a:prstGeom>
          <a:solidFill>
            <a:srgbClr val="151827"/>
          </a:solidFill>
          <a:ln w="12700">
            <a:solidFill>
              <a:srgbClr val="2A2D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트리거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→ 두 세계 겹침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4434840"/>
            <a:ext cx="2606040" cy="1554480"/>
          </a:xfrm>
          <a:prstGeom prst="rect">
            <a:avLst/>
          </a:prstGeom>
          <a:solidFill>
            <a:srgbClr val="151827"/>
          </a:solidFill>
          <a:ln w="12700">
            <a:solidFill>
              <a:srgbClr val="2A2D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흉터 시스템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사망=영구 자산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플레이어는 '닿을 듯 닿지 않는 거리감'을 메카닉으로 느낀다.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게임의 본질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01 ·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위상 — 같은 하늘, 다른 세계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438912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00" cy="54864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냥 (Nyang)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달의 위상 — 6800K 은청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은빛 서리 · 차갑고 서늘한 고독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38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역할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3538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원거리 / 공간 제어 / 디버프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1056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흔적 컬러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41056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#A0C8E0 은청 파티클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672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가능 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4672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코숏 · 페르시안 · 뱅갈 외 6종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239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시너지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52395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흔적 위 마나 회복 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5486400" cy="43891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1783080"/>
            <a:ext cx="5486400" cy="54864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뭉 (Mung)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태양의 위상 — 3400K 황금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황금빛 봄 · 따뜻하지만 쓸쓸한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538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역할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3538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근접 / 방패 / 강타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1056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흔적 컬러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1056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#E8C890 황금 파티클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4672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가능 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4672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믹스견 · 허스키 · 시바이누 외 6종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5239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시너지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52395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시 종 조합 보너스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06440" y="3703320"/>
            <a:ext cx="548640" cy="548640"/>
          </a:xfrm>
          <a:prstGeom prst="ellipse">
            <a:avLst/>
          </a:prstGeom>
          <a:solidFill>
            <a:srgbClr val="0B0E1A"/>
          </a:solidFill>
          <a:ln w="25400">
            <a:solidFill>
              <a:srgbClr val="B89A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⚭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위상은 같은 좌표에 존재하지만 서로를 볼 수 없다 — 월식(Eclipse)의 순간에만 경계가 얇아진다.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두 위상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01 ·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5분 숏폼 루프 × 100시간 메타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 1회 (5분) — Spawn → Tension → Eclipse → Fusion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606040" cy="21031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40280"/>
            <a:ext cx="2606040" cy="41148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0~5s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파트너의 흔적 등장. 비동기 연결감 부여.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240280"/>
            <a:ext cx="2606040" cy="21031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2240280"/>
            <a:ext cx="2606040" cy="41148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5~110s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전투·탐색. 흔적 위에서 그리움 게이지 +pt.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606040" cy="21031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2240280"/>
            <a:ext cx="2606040" cy="411480"/>
          </a:xfrm>
          <a:prstGeom prst="rect">
            <a:avLst/>
          </a:prstGeom>
          <a:solidFill>
            <a:srgbClr val="B89AE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110~150s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공명 100% → 두 위상 겹침, 채도 100% 폭발.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32520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15400" y="2240280"/>
            <a:ext cx="2606040" cy="21031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6" name="Shape 24"/>
          <p:cNvSpPr/>
          <p:nvPr/>
        </p:nvSpPr>
        <p:spPr>
          <a:xfrm>
            <a:off x="8915400" y="2240280"/>
            <a:ext cx="2606040" cy="411480"/>
          </a:xfrm>
          <a:prstGeom prst="rect">
            <a:avLst/>
          </a:prstGeom>
          <a:solidFill>
            <a:srgbClr val="F4D793"/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6988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150~240s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[Merge] 입력 → ×2.5 대미지, 런 클라이맥스.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100시간 메타 — 흉터(Scar) 시스템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2606040" cy="100584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흉터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즉사 → 첫 1회 무효화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5074920"/>
            <a:ext cx="2606040" cy="100584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흉터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2044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Ghost 처치 → 공명 +10%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5074920"/>
            <a:ext cx="2606040" cy="100584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 흉터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0936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구역 → 비하인드 컷씬 해금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15400" y="5074920"/>
            <a:ext cx="2606040" cy="100584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28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09828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업그레이드 흉터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09828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5/10/20/50 누적 → 영구 능력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사망은 페널티가 아닌 다음 런의 자산 — 플레이어의 모든 패배가 서사가 된다.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핵심 루프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02 ·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어떤 레퍼런스를 진화시켰는가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명작들이 가진 강점을 흡수하고, 그들이 채우지 못한 시장 공백을 정확히 겨냥했다.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6858000" cy="420624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2606040"/>
            <a:ext cx="0" cy="3657600"/>
          </a:xfrm>
          <a:prstGeom prst="line">
            <a:avLst/>
          </a:prstGeom>
          <a:noFill/>
          <a:ln w="12700">
            <a:solidFill>
              <a:srgbClr val="2A2D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434840"/>
            <a:ext cx="6309360" cy="0"/>
          </a:xfrm>
          <a:prstGeom prst="line">
            <a:avLst/>
          </a:prstGeom>
          <a:noFill/>
          <a:ln w="12700">
            <a:solidFill>
              <a:srgbClr val="2A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깊음 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6172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액션 기계적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동기 실시간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비동기/솔로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3401568"/>
            <a:ext cx="237744" cy="237744"/>
          </a:xfrm>
          <a:prstGeom prst="ellipse">
            <a:avLst/>
          </a:prstGeom>
          <a:solidFill>
            <a:srgbClr val="5B6075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Genshin Impact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13248" y="3081528"/>
            <a:ext cx="329184" cy="329184"/>
          </a:xfrm>
          <a:prstGeom prst="ellipse">
            <a:avLst/>
          </a:prstGeom>
          <a:solidFill>
            <a:srgbClr val="B89AE8"/>
          </a:solidFill>
          <a:ln w="25400">
            <a:solidFill>
              <a:srgbClr val="F5F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41448" y="5413248"/>
            <a:ext cx="237744" cy="237744"/>
          </a:xfrm>
          <a:prstGeom prst="ellipse">
            <a:avLst/>
          </a:prstGeom>
          <a:solidFill>
            <a:srgbClr val="5B6075"/>
          </a:solidFill>
          <a:ln/>
        </p:spPr>
      </p:sp>
      <p:sp>
        <p:nvSpPr>
          <p:cNvPr id="19" name="Text 17"/>
          <p:cNvSpPr/>
          <p:nvPr/>
        </p:nvSpPr>
        <p:spPr>
          <a:xfrm>
            <a:off x="2770632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1768" y="5230368"/>
            <a:ext cx="237744" cy="237744"/>
          </a:xfrm>
          <a:prstGeom prst="ellipse">
            <a:avLst/>
          </a:prstGeom>
          <a:solidFill>
            <a:srgbClr val="5B6075"/>
          </a:solidFill>
          <a:ln/>
        </p:spPr>
      </p:sp>
      <p:sp>
        <p:nvSpPr>
          <p:cNvPr id="21" name="Text 19"/>
          <p:cNvSpPr/>
          <p:nvPr/>
        </p:nvSpPr>
        <p:spPr>
          <a:xfrm>
            <a:off x="5330952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41848" y="5779008"/>
            <a:ext cx="237744" cy="237744"/>
          </a:xfrm>
          <a:prstGeom prst="ellipse">
            <a:avLst/>
          </a:prstGeom>
          <a:solidFill>
            <a:srgbClr val="5B6075"/>
          </a:solidFill>
          <a:ln/>
        </p:spPr>
      </p:sp>
      <p:sp>
        <p:nvSpPr>
          <p:cNvPr id="23" name="Text 21"/>
          <p:cNvSpPr/>
          <p:nvPr/>
        </p:nvSpPr>
        <p:spPr>
          <a:xfrm>
            <a:off x="5971032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Cells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2743200"/>
            <a:ext cx="2926080" cy="320040"/>
          </a:xfrm>
          <a:prstGeom prst="rect">
            <a:avLst/>
          </a:prstGeom>
          <a:solidFill>
            <a:srgbClr val="B89AE8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공백 (BLUE OCEAN)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진화 포인트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26680" y="2788920"/>
            <a:ext cx="3931920" cy="86868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28" name="Shape 26"/>
          <p:cNvSpPr/>
          <p:nvPr/>
        </p:nvSpPr>
        <p:spPr>
          <a:xfrm>
            <a:off x="7726680" y="2788920"/>
            <a:ext cx="45720" cy="868680"/>
          </a:xfrm>
          <a:prstGeom prst="rect">
            <a:avLst/>
          </a:prstGeom>
          <a:solidFill>
            <a:srgbClr val="FF7A8E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095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캐릭터 서사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095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비동기 코옵으로 확장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26680" y="3749040"/>
            <a:ext cx="3931920" cy="86868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26680" y="3749040"/>
            <a:ext cx="45720" cy="868680"/>
          </a:xfrm>
          <a:prstGeom prst="rect">
            <a:avLst/>
          </a:prstGeom>
          <a:solidFill>
            <a:srgbClr val="7DD3A0"/>
          </a:solidFill>
          <a:ln/>
        </p:spPr>
      </p:sp>
      <p:sp>
        <p:nvSpPr>
          <p:cNvPr id="34" name="Text 32"/>
          <p:cNvSpPr/>
          <p:nvPr/>
        </p:nvSpPr>
        <p:spPr>
          <a:xfrm>
            <a:off x="79095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095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5분 루프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095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감성 레이어 추가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26680" y="4709160"/>
            <a:ext cx="3931920" cy="86868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8" name="Shape 36"/>
          <p:cNvSpPr/>
          <p:nvPr/>
        </p:nvSpPr>
        <p:spPr>
          <a:xfrm>
            <a:off x="7726680" y="4709160"/>
            <a:ext cx="45720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9" name="Text 37"/>
          <p:cNvSpPr/>
          <p:nvPr/>
        </p:nvSpPr>
        <p:spPr>
          <a:xfrm>
            <a:off x="79095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Genshin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095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감성적 비주얼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0956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도트로 1인 가능화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26680" y="5669280"/>
            <a:ext cx="3931920" cy="86868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43" name="Shape 41"/>
          <p:cNvSpPr/>
          <p:nvPr/>
        </p:nvSpPr>
        <p:spPr>
          <a:xfrm>
            <a:off x="7726680" y="5669280"/>
            <a:ext cx="45720" cy="868680"/>
          </a:xfrm>
          <a:prstGeom prst="rect">
            <a:avLst/>
          </a:prstGeom>
          <a:solidFill>
            <a:srgbClr val="F4D793"/>
          </a:solidFill>
          <a:ln/>
        </p:spPr>
      </p:sp>
      <p:sp>
        <p:nvSpPr>
          <p:cNvPr id="44" name="Text 42"/>
          <p:cNvSpPr/>
          <p:nvPr/>
        </p:nvSpPr>
        <p:spPr>
          <a:xfrm>
            <a:off x="790956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D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Stranding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095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연결감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90956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액션 로그라이트화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레퍼런스 진화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02 ·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시장 데이터로 본 검증 가능성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303520" cy="123444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92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$8.2B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10896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모바일 액션 RPG 시장 (2024)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Tower 기준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03520" cy="123444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101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108960" y="3429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로그라이트 서브장르 YoY 성장률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· 모바일 통합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303520" cy="123444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274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10896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코옵 채택 게임 수 (현재)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5394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블루오션 — 카테고리 진입 우위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경쟁 비교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24028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비동기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감성서사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모바일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로그라이트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9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백년의 월광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핵심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7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PC/콘솔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D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Genshin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D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4인동기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D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고사양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D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D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126480" y="5074920"/>
            <a:ext cx="5486400" cy="1463040"/>
          </a:xfrm>
          <a:prstGeom prst="rect">
            <a:avLst/>
          </a:prstGeom>
          <a:solidFill>
            <a:srgbClr val="B89AE8">
              <a:alpha val="15000"/>
            </a:srgbClr>
          </a:solidFill>
          <a:ln w="12700">
            <a:solidFill>
              <a:srgbClr val="B89A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5212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09360" y="548640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4축 모두 충족하는 단일 게임은 현재 모바일 시장에 존재하지 않는다. 카테고리 첫 번째 진입자(category creator)의 위치를 선점할 수 있는 시점.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시장 검증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03 ·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 구조 — 모바일 F2P × Steam 패키지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빌드를 두 플랫폼에 맞춰 출시. 플랫폼별 결제 패턴이 다르므로 BM도 분리 설계.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532120" cy="420624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5532120" cy="54864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 / Android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F2P + 시즌제 + 코스메틱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게임플레이 영향 0% — Fair Monetization 원칙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그리움 패스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 / 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한정 스토리 챕터 + 시즌 흉터 도감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코스메틱 스킨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$1.99~5.99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7000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냥/뭉 종별 털색·패턴 (성능 영향 없음)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50749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20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장신구 세트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5120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$2.99~7.99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3858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목걸이·귀장식·등짐 (테마 묶음)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57607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벚꽃 책갈피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5806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$0.99~2.99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60716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 종료 후 메시지 카드 도감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331720"/>
            <a:ext cx="5532120" cy="420624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2331720"/>
            <a:ext cx="5532120" cy="54864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· PC / Mac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패키지 판매 + DLC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3796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얼리액세스 → 정식 출시 2단계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7033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본편 (얼리액세스)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726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M9~M12, 챕터 1~2 + 흉터 시스템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37960" y="43891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본편 (정식 출시)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3726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47000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 이후, 전 챕터 + 글로벌 현지화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37960" y="50749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Soundtrack DLC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7260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53858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위상별 OST 18곡 (위상 흑백/컬러 페어)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37960" y="5760720"/>
            <a:ext cx="5029200" cy="59436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5806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Book DLC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3726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75120" y="60716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스프라이트 원화집 + 흉터 도감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BM 구조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03 ·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매출 목표 — 12개월 BEP, 24개월 흑자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2606040" cy="14173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606040" cy="45720"/>
          </a:xfrm>
          <a:prstGeom prst="rect">
            <a:avLst/>
          </a:prstGeom>
          <a:solidFill>
            <a:srgbClr val="9CA3B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개발비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12개월 (인건비 + 도구)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606040" cy="14173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783080"/>
            <a:ext cx="2606040" cy="45720"/>
          </a:xfrm>
          <a:prstGeom prst="rect">
            <a:avLst/>
          </a:prstGeom>
          <a:solidFill>
            <a:srgbClr val="B89AE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12개월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204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목표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 후 누적 매출 = 개발비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606040" cy="14173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783080"/>
            <a:ext cx="2606040" cy="4572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 누적 매출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 시나리오 기준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15400" y="1783080"/>
            <a:ext cx="2606040" cy="141732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15400" y="1783080"/>
            <a:ext cx="2606040" cy="45720"/>
          </a:xfrm>
          <a:prstGeom prst="rect">
            <a:avLst/>
          </a:prstGeom>
          <a:solidFill>
            <a:srgbClr val="F4D793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D7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5.5x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982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(24개월)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982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 → $250K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24개월 누적 매출 시나리오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48640" y="3931920"/>
          <a:ext cx="6400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71780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구성 (24개월 보수 시나리오 $250K)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93192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5B6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5B6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5B6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모바일 - 그리움 패스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모바일 - 코스메틱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 - 본편 판매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 - DLC (OST/AB)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기타 (이벤트/광고)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827"/>
                    </a:solidFill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가정: D1 45% / D7 22% / ARPPU $18.5 / 결제전환 4.5% / 누적 다운로드 80K (보수)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매출 목표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1인 개발 12개월 로드맵 — AI 파이프라인 활용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0 · AI 보조 · 도트 스프라이트 — 1인이 완성 가능한 구조로 처음부터 설계.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606040" cy="365760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2606040" cy="64008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프로토타입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슬라이스 5분 플레이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2D + Aseprite 셋업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냥/뭉 기본 전투 1종씩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트리거 MVP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331720"/>
            <a:ext cx="2606040" cy="365760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2331720"/>
            <a:ext cx="2606040" cy="64008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알파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M4~M6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1546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3개 + 보스 1체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흉터 시스템 (4타입 × 5종)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배경 파이프라인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테스트 (n=10)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331720"/>
            <a:ext cx="2606040" cy="365760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2331720"/>
            <a:ext cx="2606040" cy="640080"/>
          </a:xfrm>
          <a:prstGeom prst="rect">
            <a:avLst/>
          </a:prstGeom>
          <a:solidFill>
            <a:srgbClr val="B89AE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베타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809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M7~M9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1546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10개 + 보스 5체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그리움 패스 첫 시즌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BGM 18곡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(n=300)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2331720"/>
            <a:ext cx="2606040" cy="3657600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6" name="Shape 24"/>
          <p:cNvSpPr/>
          <p:nvPr/>
        </p:nvSpPr>
        <p:spPr>
          <a:xfrm>
            <a:off x="8915400" y="2331720"/>
            <a:ext cx="2606040" cy="640080"/>
          </a:xfrm>
          <a:prstGeom prst="rect">
            <a:avLst/>
          </a:prstGeom>
          <a:solidFill>
            <a:srgbClr val="F4D793"/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9828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출시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698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M10~M12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0" y="315468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/ Steam 동시 출시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현지화 (EN/JP)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&amp; 인플루언서 시딩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라이브옵스 시작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6199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파이프라인 효율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0" y="61996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1세트 4~6시간 · BGM 1트랙 $0+2시간 · 적 스프라이트 1종 2~4시간 · 전통 파이프라인 대비 70% 단축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— 12개월 로드맵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예상 리스크 &amp; 대응 전략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73152" cy="73152"/>
          </a:xfrm>
          <a:prstGeom prst="ellipse">
            <a:avLst/>
          </a:prstGeom>
          <a:solidFill>
            <a:srgbClr val="B89A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개발 + 신규 카테고리 = 실행 리스크 多. 각 리스크에 대한 사전 대응책을 명시.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13232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496312"/>
            <a:ext cx="777240" cy="365760"/>
          </a:xfrm>
          <a:prstGeom prst="rect">
            <a:avLst/>
          </a:prstGeom>
          <a:solidFill>
            <a:srgbClr val="FF7A8E">
              <a:alpha val="20000"/>
            </a:srgbClr>
          </a:solidFill>
          <a:ln w="12700">
            <a:solidFill>
              <a:srgbClr val="FF7A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963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404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12개월 일정 지연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스코프 초과 / 폴리싱 무한루프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4963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M3·M6·M9 마일스톤 게이트. 스코프 잠금. AI 파이프라인으로 아트 70% 단축.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1064240" cy="713232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273552"/>
            <a:ext cx="777240" cy="365760"/>
          </a:xfrm>
          <a:prstGeom prst="rect">
            <a:avLst/>
          </a:prstGeom>
          <a:solidFill>
            <a:srgbClr val="FF7A8E">
              <a:alpha val="20000"/>
            </a:srgbClr>
          </a:solidFill>
          <a:ln w="12700">
            <a:solidFill>
              <a:srgbClr val="FF7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735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182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코옵 LTV 검증 실패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서사가 통하지 않을 가능성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3291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2735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알파에서 D1 리텐션 35%+ 검증. 미달 시 솔로 모드 강화로 피벗.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1064240" cy="713232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050792"/>
            <a:ext cx="777240" cy="365760"/>
          </a:xfrm>
          <a:prstGeom prst="rect">
            <a:avLst/>
          </a:prstGeom>
          <a:solidFill>
            <a:srgbClr val="F4D793">
              <a:alpha val="20000"/>
            </a:srgbClr>
          </a:solidFill>
          <a:ln w="12700">
            <a:solidFill>
              <a:srgbClr val="F4D7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50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4D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3959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아트 IP 분쟁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4251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학습 데이터 출처 논란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40507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아웃풋은 도트 픽셀 마무리 (인간 작업). AI는 초안용 한정.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11064240" cy="713232"/>
          </a:xfrm>
          <a:prstGeom prst="rect">
            <a:avLst/>
          </a:prstGeom>
          <a:solidFill>
            <a:srgbClr val="151827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828032"/>
            <a:ext cx="777240" cy="365760"/>
          </a:xfrm>
          <a:prstGeom prst="rect">
            <a:avLst/>
          </a:prstGeom>
          <a:solidFill>
            <a:srgbClr val="F4D793">
              <a:alpha val="20000"/>
            </a:srgbClr>
          </a:solidFill>
          <a:ln w="12700">
            <a:solidFill>
              <a:srgbClr val="F4D7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28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4D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4736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UA 비용 급등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45920" y="5029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14.5 ATT 정책 후 CPI 상승 추세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846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48280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스크린샷의 자연 SNS 확산 의존. 유료 UA 의존도 &lt; 30% 유지.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64240" cy="713232"/>
          </a:xfrm>
          <a:prstGeom prst="rect">
            <a:avLst/>
          </a:prstGeom>
          <a:solidFill>
            <a:srgbClr val="1E2138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5605272"/>
            <a:ext cx="777240" cy="365760"/>
          </a:xfrm>
          <a:prstGeom prst="rect">
            <a:avLst/>
          </a:prstGeom>
          <a:solidFill>
            <a:srgbClr val="7DD3A0">
              <a:alpha val="20000"/>
            </a:srgbClr>
          </a:solidFill>
          <a:ln w="12700">
            <a:solidFill>
              <a:srgbClr val="7DD3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6052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D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45920" y="5513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노출 부족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45920" y="5806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+ 모바일 출신 게임에 대한 편견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5623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60720" y="56052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넥스트 페스트 데모 참여. 솔로 인디 인플루언서 시딩.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 · Tail of the Eclipse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v_eclipse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E1A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저주를 깨는 100초의 경이,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B89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 찰나의 색이 만들어낼 감동과 비즈니스 성과.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760720" y="3611880"/>
            <a:ext cx="640080" cy="36576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1인이 완성하는, 서버 없이, AI와 함께 — 도트로 그려낸 가장 감성적인 교대 액션 로그라이트.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28800" y="4754880"/>
            <a:ext cx="8503920" cy="1371600"/>
          </a:xfrm>
          <a:prstGeom prst="rect">
            <a:avLst/>
          </a:prstGeom>
          <a:solidFill>
            <a:srgbClr val="151827">
              <a:alpha val="80000"/>
            </a:srgbClr>
          </a:solidFill>
          <a:ln w="12700">
            <a:solidFill>
              <a:srgbClr val="B89A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48920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89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요청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0" y="5212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(M1~M3) 프로토타입 착수 승인 — $11K · 90일 · 수직 슬라이스 검증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28800" y="5623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Go/No-Go 게이트에서 핵심 루프 검증 → Phase 2 진행 여부 재결정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63550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contact@eclipse-studio.com  ·  Eclipse Studio  ·  2026.05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백년의 월광 - 경영진 보고용 제안서</dc:title>
  <dc:subject>PptxGenJS Presentation</dc:subject>
  <dc:creator>Eclipse Studio (1인 개발)</dc:creator>
  <cp:lastModifiedBy>Eclipse Studio (1인 개발)</cp:lastModifiedBy>
  <cp:revision>1</cp:revision>
  <dcterms:created xsi:type="dcterms:W3CDTF">2026-05-02T02:28:07Z</dcterms:created>
  <dcterms:modified xsi:type="dcterms:W3CDTF">2026-05-02T02:28:07Z</dcterms:modified>
</cp:coreProperties>
</file>